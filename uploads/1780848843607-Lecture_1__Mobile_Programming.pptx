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357" r:id="rId5"/>
    <p:sldId id="356" r:id="rId6"/>
    <p:sldId id="261" r:id="rId7"/>
    <p:sldId id="262" r:id="rId8"/>
    <p:sldId id="263" r:id="rId9"/>
    <p:sldId id="333" r:id="rId10"/>
    <p:sldId id="334" r:id="rId11"/>
    <p:sldId id="335" r:id="rId12"/>
    <p:sldId id="336" r:id="rId13"/>
    <p:sldId id="337" r:id="rId14"/>
    <p:sldId id="347" r:id="rId15"/>
    <p:sldId id="348" r:id="rId16"/>
    <p:sldId id="338" r:id="rId17"/>
    <p:sldId id="339" r:id="rId18"/>
    <p:sldId id="354" r:id="rId19"/>
    <p:sldId id="340" r:id="rId20"/>
    <p:sldId id="341" r:id="rId21"/>
    <p:sldId id="342" r:id="rId22"/>
    <p:sldId id="343" r:id="rId23"/>
    <p:sldId id="344" r:id="rId24"/>
    <p:sldId id="345" r:id="rId25"/>
    <p:sldId id="349" r:id="rId26"/>
    <p:sldId id="350" r:id="rId27"/>
    <p:sldId id="352" r:id="rId28"/>
    <p:sldId id="351" r:id="rId29"/>
    <p:sldId id="355" r:id="rId3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72" y="13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4933" y="795594"/>
            <a:ext cx="7414133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2424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25882" y="3721337"/>
            <a:ext cx="3092234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4A4A4A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2424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A4A4A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0" y="5143499"/>
                </a:moveTo>
                <a:lnTo>
                  <a:pt x="4571999" y="5143499"/>
                </a:lnTo>
                <a:lnTo>
                  <a:pt x="4571999" y="0"/>
                </a:lnTo>
                <a:lnTo>
                  <a:pt x="0" y="0"/>
                </a:lnTo>
                <a:lnTo>
                  <a:pt x="0" y="5143499"/>
                </a:lnTo>
                <a:close/>
              </a:path>
            </a:pathLst>
          </a:custGeom>
          <a:solidFill>
            <a:srgbClr val="E91C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0" y="17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029675" y="4495499"/>
            <a:ext cx="577215" cy="0"/>
          </a:xfrm>
          <a:custGeom>
            <a:avLst/>
            <a:gdLst/>
            <a:ahLst/>
            <a:cxnLst/>
            <a:rect l="l" t="t" r="r" b="b"/>
            <a:pathLst>
              <a:path w="577214">
                <a:moveTo>
                  <a:pt x="0" y="0"/>
                </a:moveTo>
                <a:lnTo>
                  <a:pt x="577199" y="0"/>
                </a:lnTo>
              </a:path>
            </a:pathLst>
          </a:custGeom>
          <a:ln w="19049">
            <a:solidFill>
              <a:srgbClr val="E91C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2424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2424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9200" y="1275577"/>
            <a:ext cx="614680" cy="0"/>
          </a:xfrm>
          <a:custGeom>
            <a:avLst/>
            <a:gdLst/>
            <a:ahLst/>
            <a:cxnLst/>
            <a:rect l="l" t="t" r="r" b="b"/>
            <a:pathLst>
              <a:path w="614680">
                <a:moveTo>
                  <a:pt x="0" y="0"/>
                </a:moveTo>
                <a:lnTo>
                  <a:pt x="614099" y="0"/>
                </a:lnTo>
              </a:path>
            </a:pathLst>
          </a:custGeom>
          <a:ln w="19049">
            <a:solidFill>
              <a:srgbClr val="4242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8349" y="-68989"/>
            <a:ext cx="8496945" cy="1086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2424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36729"/>
            <a:ext cx="8305165" cy="1351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4A4A4A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flutter.dev/flutter/widgets/Align/heightFactor.html" TargetMode="External"/><Relationship Id="rId2" Type="http://schemas.openxmlformats.org/officeDocument/2006/relationships/hyperlink" Target="https://api.flutter.dev/flutter/widgets/Align/widthFactor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flutter.dev/flutter/widgets/Column-class.html" TargetMode="External"/><Relationship Id="rId2" Type="http://schemas.openxmlformats.org/officeDocument/2006/relationships/hyperlink" Target="https://api.flutter.dev/flutter/widgets/Expanded-clas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hyperlink" Target="https://api.flutter.dev/flutter/widgets/ListView-class.html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cookbook/design/snackbars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flutter.dev/cookbook/design/snackbars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flutter.dev/cookbook/design/drawer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2" y="0"/>
            <a:ext cx="9144000" cy="3322320"/>
          </a:xfrm>
          <a:custGeom>
            <a:avLst/>
            <a:gdLst/>
            <a:ahLst/>
            <a:cxnLst/>
            <a:rect l="l" t="t" r="r" b="b"/>
            <a:pathLst>
              <a:path w="9144000" h="3322320">
                <a:moveTo>
                  <a:pt x="9143987" y="0"/>
                </a:moveTo>
                <a:lnTo>
                  <a:pt x="0" y="0"/>
                </a:lnTo>
                <a:lnTo>
                  <a:pt x="0" y="3124200"/>
                </a:lnTo>
                <a:lnTo>
                  <a:pt x="4395838" y="3124200"/>
                </a:lnTo>
                <a:lnTo>
                  <a:pt x="4572012" y="3322053"/>
                </a:lnTo>
                <a:lnTo>
                  <a:pt x="4748161" y="3124200"/>
                </a:lnTo>
                <a:lnTo>
                  <a:pt x="9143987" y="3124200"/>
                </a:lnTo>
                <a:lnTo>
                  <a:pt x="9143987" y="0"/>
                </a:lnTo>
                <a:close/>
              </a:path>
            </a:pathLst>
          </a:custGeom>
          <a:solidFill>
            <a:srgbClr val="E91C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8420">
              <a:lnSpc>
                <a:spcPct val="100000"/>
              </a:lnSpc>
              <a:spcBef>
                <a:spcPts val="100"/>
              </a:spcBef>
            </a:pPr>
            <a:r>
              <a:rPr sz="6000" spc="-500" dirty="0">
                <a:solidFill>
                  <a:srgbClr val="FFFFFF"/>
                </a:solidFill>
              </a:rPr>
              <a:t>Lecture</a:t>
            </a:r>
            <a:r>
              <a:rPr sz="6000" spc="-495" dirty="0">
                <a:solidFill>
                  <a:srgbClr val="FFFFFF"/>
                </a:solidFill>
              </a:rPr>
              <a:t> </a:t>
            </a:r>
            <a:r>
              <a:rPr sz="6000" spc="-1000" dirty="0">
                <a:solidFill>
                  <a:srgbClr val="FFFFFF"/>
                </a:solidFill>
              </a:rPr>
              <a:t>1:</a:t>
            </a:r>
            <a:r>
              <a:rPr sz="6000" spc="-495" dirty="0">
                <a:solidFill>
                  <a:srgbClr val="FFFFFF"/>
                </a:solidFill>
              </a:rPr>
              <a:t> </a:t>
            </a:r>
            <a:r>
              <a:rPr sz="6000" spc="-470" dirty="0">
                <a:solidFill>
                  <a:srgbClr val="FFFFFF"/>
                </a:solidFill>
              </a:rPr>
              <a:t>Mobile </a:t>
            </a:r>
            <a:r>
              <a:rPr sz="6000" spc="-590" dirty="0">
                <a:solidFill>
                  <a:srgbClr val="FFFFFF"/>
                </a:solidFill>
              </a:rPr>
              <a:t>Programming</a:t>
            </a:r>
            <a:r>
              <a:rPr sz="6000" spc="-495" dirty="0">
                <a:solidFill>
                  <a:srgbClr val="FFFFFF"/>
                </a:solidFill>
              </a:rPr>
              <a:t> </a:t>
            </a:r>
            <a:r>
              <a:rPr sz="6000" spc="-509" dirty="0">
                <a:solidFill>
                  <a:srgbClr val="FFFFFF"/>
                </a:solidFill>
              </a:rPr>
              <a:t>using</a:t>
            </a:r>
            <a:r>
              <a:rPr sz="6000" spc="-490" dirty="0">
                <a:solidFill>
                  <a:srgbClr val="FFFFFF"/>
                </a:solidFill>
              </a:rPr>
              <a:t> </a:t>
            </a:r>
            <a:r>
              <a:rPr sz="6000" spc="-405" dirty="0">
                <a:solidFill>
                  <a:srgbClr val="FFFFFF"/>
                </a:solidFill>
              </a:rPr>
              <a:t>Flutter</a:t>
            </a:r>
            <a:endParaRPr sz="6000"/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75" dirty="0">
                <a:solidFill>
                  <a:srgbClr val="424242"/>
                </a:solidFill>
                <a:latin typeface="Tahoma"/>
                <a:cs typeface="Tahoma"/>
              </a:rPr>
              <a:t>Dr.Taraggy</a:t>
            </a:r>
            <a:r>
              <a:rPr sz="3600" spc="-295" dirty="0">
                <a:solidFill>
                  <a:srgbClr val="424242"/>
                </a:solidFill>
                <a:latin typeface="Tahoma"/>
                <a:cs typeface="Tahoma"/>
              </a:rPr>
              <a:t> </a:t>
            </a:r>
            <a:r>
              <a:rPr sz="3600" spc="-395" dirty="0">
                <a:solidFill>
                  <a:srgbClr val="424242"/>
                </a:solidFill>
                <a:latin typeface="Tahoma"/>
                <a:cs typeface="Tahoma"/>
              </a:rPr>
              <a:t>Ghanim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682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00"/>
              </a:spcBef>
            </a:pPr>
            <a:r>
              <a:rPr spc="-335" dirty="0"/>
              <a:t>What</a:t>
            </a:r>
            <a:r>
              <a:rPr spc="-240" dirty="0"/>
              <a:t> </a:t>
            </a:r>
            <a:r>
              <a:rPr spc="-120" dirty="0"/>
              <a:t>is</a:t>
            </a:r>
            <a:r>
              <a:rPr spc="-235" dirty="0"/>
              <a:t> </a:t>
            </a:r>
            <a:r>
              <a:rPr spc="-160" dirty="0"/>
              <a:t>Flutter?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8B8278-CEAA-8799-E7FC-B2463105B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931" y="1123950"/>
            <a:ext cx="6515665" cy="35131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682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00"/>
              </a:spcBef>
            </a:pPr>
            <a:r>
              <a:rPr spc="-355" dirty="0"/>
              <a:t>From</a:t>
            </a:r>
            <a:r>
              <a:rPr spc="-225" dirty="0"/>
              <a:t> </a:t>
            </a:r>
            <a:r>
              <a:rPr spc="-204" dirty="0"/>
              <a:t>Flutter</a:t>
            </a:r>
            <a:r>
              <a:rPr spc="-220" dirty="0"/>
              <a:t> </a:t>
            </a:r>
            <a:r>
              <a:rPr spc="-320" dirty="0"/>
              <a:t>Code</a:t>
            </a:r>
            <a:r>
              <a:rPr spc="-220" dirty="0"/>
              <a:t> </a:t>
            </a:r>
            <a:r>
              <a:rPr spc="-229" dirty="0"/>
              <a:t>to</a:t>
            </a:r>
            <a:r>
              <a:rPr spc="-220" dirty="0"/>
              <a:t> </a:t>
            </a:r>
            <a:r>
              <a:rPr spc="-250" dirty="0"/>
              <a:t>Plateform</a:t>
            </a:r>
            <a:r>
              <a:rPr spc="-220" dirty="0"/>
              <a:t> </a:t>
            </a:r>
            <a:r>
              <a:rPr spc="-340" dirty="0"/>
              <a:t>Code</a:t>
            </a: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4DF09A7-8489-769E-BEF7-06974A414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76350"/>
            <a:ext cx="4953429" cy="34521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F88D73-408D-DBD8-8813-A647FFFB4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8610599" cy="47244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564E38-B006-2D9A-1363-35C8E0E19C50}"/>
              </a:ext>
            </a:extLst>
          </p:cNvPr>
          <p:cNvCxnSpPr/>
          <p:nvPr/>
        </p:nvCxnSpPr>
        <p:spPr>
          <a:xfrm flipV="1">
            <a:off x="8382000" y="1352550"/>
            <a:ext cx="0" cy="381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278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6CEF9-A9B5-18DD-4D98-5E2B2995F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F597E4-3671-9398-B1FB-62FBE2863F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682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Platforms</a:t>
            </a:r>
            <a:r>
              <a:rPr spc="-225" dirty="0"/>
              <a:t> </a:t>
            </a:r>
            <a:r>
              <a:rPr spc="-275" dirty="0"/>
              <a:t>Supported</a:t>
            </a:r>
            <a:r>
              <a:rPr spc="-225" dirty="0"/>
              <a:t> </a:t>
            </a:r>
            <a:r>
              <a:rPr spc="-335" dirty="0"/>
              <a:t>by</a:t>
            </a:r>
            <a:r>
              <a:rPr spc="-220" dirty="0"/>
              <a:t> </a:t>
            </a:r>
            <a:r>
              <a:rPr spc="-180" dirty="0"/>
              <a:t>Flutter</a:t>
            </a:r>
          </a:p>
        </p:txBody>
      </p:sp>
      <p:pic>
        <p:nvPicPr>
          <p:cNvPr id="5" name="Picture 4" descr="A diagram of a software structure&#10;&#10;AI-generated content may be incorrect.">
            <a:extLst>
              <a:ext uri="{FF2B5EF4-FFF2-40B4-BE49-F238E27FC236}">
                <a16:creationId xmlns:a16="http://schemas.microsoft.com/office/drawing/2014/main" id="{1EF346D8-0C7A-2405-98B4-A4987ABB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8750"/>
            <a:ext cx="82296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43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682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00"/>
              </a:spcBef>
            </a:pPr>
            <a:r>
              <a:rPr spc="-335" dirty="0"/>
              <a:t>Target</a:t>
            </a:r>
            <a:r>
              <a:rPr spc="-250" dirty="0"/>
              <a:t> </a:t>
            </a:r>
            <a:r>
              <a:rPr spc="-215" dirty="0"/>
              <a:t>Platforms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532706"/>
            <a:ext cx="8255000" cy="2357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You</a:t>
            </a:r>
            <a:r>
              <a:rPr sz="1800" spc="-5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can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write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the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code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of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all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platforms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on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the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same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24242"/>
                </a:solidFill>
                <a:latin typeface="Courier New"/>
                <a:cs typeface="Courier New"/>
              </a:rPr>
              <a:t>machine.</a:t>
            </a:r>
            <a:endParaRPr sz="1800">
              <a:latin typeface="Courier New"/>
              <a:cs typeface="Courier New"/>
            </a:endParaRPr>
          </a:p>
          <a:p>
            <a:pPr marL="12700" marR="416559">
              <a:lnSpc>
                <a:spcPct val="187500"/>
              </a:lnSpc>
              <a:tabLst>
                <a:tab pos="3715385" algn="l"/>
              </a:tabLst>
            </a:pP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You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can</a:t>
            </a:r>
            <a:r>
              <a:rPr sz="18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only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test</a:t>
            </a:r>
            <a:r>
              <a:rPr sz="18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and</a:t>
            </a:r>
            <a:r>
              <a:rPr sz="18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424242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	ios</a:t>
            </a:r>
            <a:r>
              <a:rPr sz="18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&amp;</a:t>
            </a:r>
            <a:r>
              <a:rPr sz="18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macos</a:t>
            </a:r>
            <a:r>
              <a:rPr sz="18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on</a:t>
            </a:r>
            <a:r>
              <a:rPr sz="18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macos</a:t>
            </a:r>
            <a:r>
              <a:rPr sz="18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24242"/>
                </a:solidFill>
                <a:latin typeface="Courier New"/>
                <a:cs typeface="Courier New"/>
              </a:rPr>
              <a:t>machine.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You</a:t>
            </a:r>
            <a:r>
              <a:rPr sz="1800" spc="-5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can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only</a:t>
            </a:r>
            <a:r>
              <a:rPr sz="1800" spc="-5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test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and</a:t>
            </a:r>
            <a:r>
              <a:rPr sz="1800" spc="-5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run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Windows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app</a:t>
            </a:r>
            <a:r>
              <a:rPr sz="1800" spc="-5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on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Windows</a:t>
            </a:r>
            <a:r>
              <a:rPr sz="1800" spc="-5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24242"/>
                </a:solidFill>
                <a:latin typeface="Courier New"/>
                <a:cs typeface="Courier New"/>
              </a:rPr>
              <a:t>machine.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You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can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only</a:t>
            </a:r>
            <a:r>
              <a:rPr sz="18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test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and</a:t>
            </a:r>
            <a:r>
              <a:rPr sz="18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run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Linux</a:t>
            </a:r>
            <a:r>
              <a:rPr sz="18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app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on</a:t>
            </a:r>
            <a:r>
              <a:rPr sz="1800" spc="-4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Linux</a:t>
            </a:r>
            <a:r>
              <a:rPr sz="18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24242"/>
                </a:solidFill>
                <a:latin typeface="Courier New"/>
                <a:cs typeface="Courier New"/>
              </a:rPr>
              <a:t>machine.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b="1" dirty="0">
                <a:solidFill>
                  <a:srgbClr val="E91C63"/>
                </a:solidFill>
                <a:latin typeface="Courier New"/>
                <a:cs typeface="Courier New"/>
              </a:rPr>
              <a:t>Android</a:t>
            </a:r>
            <a:r>
              <a:rPr sz="1800" b="1" spc="-45" dirty="0">
                <a:solidFill>
                  <a:srgbClr val="E91C63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E91C63"/>
                </a:solidFill>
                <a:latin typeface="Courier New"/>
                <a:cs typeface="Courier New"/>
              </a:rPr>
              <a:t>and</a:t>
            </a:r>
            <a:r>
              <a:rPr sz="1800" b="1" spc="-45" dirty="0">
                <a:solidFill>
                  <a:srgbClr val="E91C63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E91C63"/>
                </a:solidFill>
                <a:latin typeface="Courier New"/>
                <a:cs typeface="Courier New"/>
              </a:rPr>
              <a:t>Web</a:t>
            </a:r>
            <a:r>
              <a:rPr sz="1800" b="1" spc="-45" dirty="0">
                <a:solidFill>
                  <a:srgbClr val="E91C63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E91C63"/>
                </a:solidFill>
                <a:latin typeface="Courier New"/>
                <a:cs typeface="Courier New"/>
              </a:rPr>
              <a:t>apps</a:t>
            </a:r>
            <a:r>
              <a:rPr sz="1800" b="1" spc="-40" dirty="0">
                <a:solidFill>
                  <a:srgbClr val="E91C63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E91C63"/>
                </a:solidFill>
                <a:latin typeface="Courier New"/>
                <a:cs typeface="Courier New"/>
              </a:rPr>
              <a:t>can</a:t>
            </a:r>
            <a:r>
              <a:rPr sz="1800" b="1" spc="-45" dirty="0">
                <a:solidFill>
                  <a:srgbClr val="E91C63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E91C63"/>
                </a:solidFill>
                <a:latin typeface="Courier New"/>
                <a:cs typeface="Courier New"/>
              </a:rPr>
              <a:t>be</a:t>
            </a:r>
            <a:r>
              <a:rPr sz="1800" b="1" spc="-45" dirty="0">
                <a:solidFill>
                  <a:srgbClr val="E91C63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E91C63"/>
                </a:solidFill>
                <a:latin typeface="Courier New"/>
                <a:cs typeface="Courier New"/>
              </a:rPr>
              <a:t>built</a:t>
            </a:r>
            <a:r>
              <a:rPr sz="1800" b="1" spc="-40" dirty="0">
                <a:solidFill>
                  <a:srgbClr val="E91C63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E91C63"/>
                </a:solidFill>
                <a:latin typeface="Courier New"/>
                <a:cs typeface="Courier New"/>
              </a:rPr>
              <a:t>on</a:t>
            </a:r>
            <a:r>
              <a:rPr sz="1800" b="1" spc="-45" dirty="0">
                <a:solidFill>
                  <a:srgbClr val="E91C63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E91C63"/>
                </a:solidFill>
                <a:latin typeface="Courier New"/>
                <a:cs typeface="Courier New"/>
              </a:rPr>
              <a:t>any</a:t>
            </a:r>
            <a:r>
              <a:rPr sz="1800" b="1" spc="-45" dirty="0">
                <a:solidFill>
                  <a:srgbClr val="E91C63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E91C63"/>
                </a:solidFill>
                <a:latin typeface="Courier New"/>
                <a:cs typeface="Courier New"/>
              </a:rPr>
              <a:t>machine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06000"/>
            <a:ext cx="9143999" cy="4037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682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00"/>
              </a:spcBef>
            </a:pPr>
            <a:r>
              <a:rPr spc="-335" dirty="0"/>
              <a:t>Target</a:t>
            </a:r>
            <a:r>
              <a:rPr spc="-225" dirty="0"/>
              <a:t> </a:t>
            </a:r>
            <a:r>
              <a:rPr spc="-235" dirty="0"/>
              <a:t>Platform</a:t>
            </a:r>
            <a:r>
              <a:rPr spc="-225" dirty="0"/>
              <a:t> </a:t>
            </a:r>
            <a:r>
              <a:rPr spc="-335" dirty="0"/>
              <a:t>Tools</a:t>
            </a:r>
            <a:r>
              <a:rPr spc="-225" dirty="0"/>
              <a:t> </a:t>
            </a:r>
            <a:r>
              <a:rPr spc="-260" dirty="0"/>
              <a:t>&amp;Devices</a:t>
            </a:r>
            <a:r>
              <a:rPr spc="-220" dirty="0"/>
              <a:t> </a:t>
            </a:r>
            <a:r>
              <a:rPr spc="-285" dirty="0"/>
              <a:t>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67349"/>
            <a:ext cx="9144000" cy="2009139"/>
          </a:xfrm>
          <a:custGeom>
            <a:avLst/>
            <a:gdLst/>
            <a:ahLst/>
            <a:cxnLst/>
            <a:rect l="l" t="t" r="r" b="b"/>
            <a:pathLst>
              <a:path w="9144000" h="2009139">
                <a:moveTo>
                  <a:pt x="9143999" y="2008799"/>
                </a:moveTo>
                <a:lnTo>
                  <a:pt x="0" y="200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008799"/>
                </a:lnTo>
                <a:close/>
              </a:path>
            </a:pathLst>
          </a:custGeom>
          <a:solidFill>
            <a:srgbClr val="E91C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1939" y="2340736"/>
            <a:ext cx="4361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4" dirty="0">
                <a:solidFill>
                  <a:srgbClr val="FFFFFF"/>
                </a:solidFill>
              </a:rPr>
              <a:t>Starting</a:t>
            </a:r>
            <a:r>
              <a:rPr sz="3600" spc="-280" dirty="0">
                <a:solidFill>
                  <a:srgbClr val="FFFFFF"/>
                </a:solidFill>
              </a:rPr>
              <a:t> </a:t>
            </a:r>
            <a:r>
              <a:rPr sz="3600" spc="-335" dirty="0">
                <a:solidFill>
                  <a:srgbClr val="FFFFFF"/>
                </a:solidFill>
              </a:rPr>
              <a:t>our</a:t>
            </a:r>
            <a:r>
              <a:rPr sz="3600" spc="-275" dirty="0">
                <a:solidFill>
                  <a:srgbClr val="FFFFFF"/>
                </a:solidFill>
              </a:rPr>
              <a:t> </a:t>
            </a:r>
            <a:r>
              <a:rPr sz="3600" spc="-210" dirty="0">
                <a:solidFill>
                  <a:srgbClr val="FFFFFF"/>
                </a:solidFill>
              </a:rPr>
              <a:t>First</a:t>
            </a:r>
            <a:r>
              <a:rPr sz="3600" spc="-275" dirty="0">
                <a:solidFill>
                  <a:srgbClr val="FFFFFF"/>
                </a:solidFill>
              </a:rPr>
              <a:t> </a:t>
            </a:r>
            <a:r>
              <a:rPr sz="3600" spc="-370" dirty="0">
                <a:solidFill>
                  <a:srgbClr val="FFFFFF"/>
                </a:solidFill>
              </a:rPr>
              <a:t>Program</a:t>
            </a:r>
            <a:endParaRPr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0" y="5143499"/>
                </a:moveTo>
                <a:lnTo>
                  <a:pt x="4571999" y="5143499"/>
                </a:lnTo>
                <a:lnTo>
                  <a:pt x="4571999" y="0"/>
                </a:lnTo>
                <a:lnTo>
                  <a:pt x="0" y="0"/>
                </a:lnTo>
                <a:lnTo>
                  <a:pt x="0" y="5143499"/>
                </a:lnTo>
                <a:close/>
              </a:path>
            </a:pathLst>
          </a:custGeom>
          <a:solidFill>
            <a:srgbClr val="E91C6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000" y="174"/>
            <a:ext cx="4572000" cy="5143500"/>
            <a:chOff x="4572000" y="174"/>
            <a:chExt cx="4572000" cy="5143500"/>
          </a:xfrm>
        </p:grpSpPr>
        <p:sp>
          <p:nvSpPr>
            <p:cNvPr id="4" name="object 4"/>
            <p:cNvSpPr/>
            <p:nvPr/>
          </p:nvSpPr>
          <p:spPr>
            <a:xfrm>
              <a:off x="4572000" y="174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29675" y="4495499"/>
              <a:ext cx="577215" cy="0"/>
            </a:xfrm>
            <a:custGeom>
              <a:avLst/>
              <a:gdLst/>
              <a:ahLst/>
              <a:cxnLst/>
              <a:rect l="l" t="t" r="r" b="b"/>
              <a:pathLst>
                <a:path w="577214">
                  <a:moveTo>
                    <a:pt x="0" y="0"/>
                  </a:moveTo>
                  <a:lnTo>
                    <a:pt x="577199" y="0"/>
                  </a:lnTo>
                </a:path>
              </a:pathLst>
            </a:custGeom>
            <a:ln w="19049">
              <a:solidFill>
                <a:srgbClr val="E91C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16074" y="771525"/>
            <a:ext cx="4065270" cy="21336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b="1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14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00FF"/>
                </a:solidFill>
                <a:latin typeface="Courier New"/>
                <a:cs typeface="Courier New"/>
              </a:rPr>
              <a:t>'package:flutter/material.dart'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62025" y="1685925"/>
            <a:ext cx="1486535" cy="22860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500" spc="-10" dirty="0">
                <a:solidFill>
                  <a:srgbClr val="242424"/>
                </a:solidFill>
                <a:latin typeface="Courier New"/>
                <a:cs typeface="Courier New"/>
              </a:rPr>
              <a:t>material.dart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1378" y="1665604"/>
            <a:ext cx="27730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42424"/>
                </a:solidFill>
                <a:latin typeface="Georgia"/>
                <a:cs typeface="Georgia"/>
              </a:rPr>
              <a:t>library</a:t>
            </a:r>
            <a:r>
              <a:rPr sz="1500" spc="-20" dirty="0">
                <a:solidFill>
                  <a:srgbClr val="242424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242424"/>
                </a:solidFill>
                <a:latin typeface="Georgia"/>
                <a:cs typeface="Georgia"/>
              </a:rPr>
              <a:t>contains</a:t>
            </a:r>
            <a:r>
              <a:rPr sz="1500" spc="-15" dirty="0">
                <a:solidFill>
                  <a:srgbClr val="242424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242424"/>
                </a:solidFill>
                <a:latin typeface="Georgia"/>
                <a:cs typeface="Georgia"/>
              </a:rPr>
              <a:t>a</a:t>
            </a:r>
            <a:r>
              <a:rPr sz="1500" spc="-20" dirty="0">
                <a:solidFill>
                  <a:srgbClr val="242424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242424"/>
                </a:solidFill>
                <a:latin typeface="Georgia"/>
                <a:cs typeface="Georgia"/>
              </a:rPr>
              <a:t>set</a:t>
            </a:r>
            <a:r>
              <a:rPr sz="1500" spc="-15" dirty="0">
                <a:solidFill>
                  <a:srgbClr val="242424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242424"/>
                </a:solidFill>
                <a:latin typeface="Georgia"/>
                <a:cs typeface="Georgia"/>
              </a:rPr>
              <a:t>of</a:t>
            </a:r>
            <a:r>
              <a:rPr sz="1500" spc="-15" dirty="0">
                <a:solidFill>
                  <a:srgbClr val="242424"/>
                </a:solidFill>
                <a:latin typeface="Georgia"/>
                <a:cs typeface="Georgi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Georgia"/>
                <a:cs typeface="Georgia"/>
              </a:rPr>
              <a:t>pre-built</a:t>
            </a:r>
            <a:endParaRPr sz="15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3374" y="1894204"/>
            <a:ext cx="4163060" cy="155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48945">
              <a:lnSpc>
                <a:spcPct val="116700"/>
              </a:lnSpc>
              <a:spcBef>
                <a:spcPts val="100"/>
              </a:spcBef>
            </a:pPr>
            <a:r>
              <a:rPr sz="15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Georgia"/>
                <a:cs typeface="Georgia"/>
              </a:rPr>
              <a:t>widgets</a:t>
            </a:r>
            <a:r>
              <a:rPr sz="1500" spc="-3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242424"/>
                </a:solidFill>
                <a:latin typeface="Georgia"/>
                <a:cs typeface="Georgia"/>
              </a:rPr>
              <a:t>that</a:t>
            </a:r>
            <a:r>
              <a:rPr sz="1500" spc="-30" dirty="0">
                <a:solidFill>
                  <a:srgbClr val="242424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242424"/>
                </a:solidFill>
                <a:latin typeface="Georgia"/>
                <a:cs typeface="Georgia"/>
              </a:rPr>
              <a:t>implement</a:t>
            </a:r>
            <a:r>
              <a:rPr sz="1500" spc="-30" dirty="0">
                <a:solidFill>
                  <a:srgbClr val="242424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242424"/>
                </a:solidFill>
                <a:latin typeface="Georgia"/>
                <a:cs typeface="Georgia"/>
              </a:rPr>
              <a:t>the</a:t>
            </a:r>
            <a:r>
              <a:rPr sz="1500" spc="-15" dirty="0">
                <a:solidFill>
                  <a:srgbClr val="242424"/>
                </a:solidFill>
                <a:latin typeface="Georgia"/>
                <a:cs typeface="Georgia"/>
              </a:rPr>
              <a:t> </a:t>
            </a:r>
            <a:r>
              <a:rPr sz="15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Georgia"/>
                <a:cs typeface="Georgia"/>
              </a:rPr>
              <a:t>Material</a:t>
            </a:r>
            <a:r>
              <a:rPr sz="1500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Georgia"/>
                <a:cs typeface="Georgia"/>
              </a:rPr>
              <a:t> </a:t>
            </a:r>
            <a:r>
              <a:rPr sz="15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Georgia"/>
                <a:cs typeface="Georgia"/>
              </a:rPr>
              <a:t>Design</a:t>
            </a:r>
            <a:r>
              <a:rPr sz="1500" spc="-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Georgia"/>
                <a:cs typeface="Georgia"/>
              </a:rPr>
              <a:t>guidelines.</a:t>
            </a:r>
            <a:endParaRPr sz="15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Georgia"/>
              <a:cs typeface="Georgia"/>
            </a:endParaRPr>
          </a:p>
          <a:p>
            <a:pPr marL="12700" marR="5080">
              <a:lnSpc>
                <a:spcPct val="116700"/>
              </a:lnSpc>
              <a:spcBef>
                <a:spcPts val="5"/>
              </a:spcBef>
            </a:pPr>
            <a:r>
              <a:rPr sz="1500" spc="-10" dirty="0">
                <a:solidFill>
                  <a:srgbClr val="4A4A4A"/>
                </a:solidFill>
                <a:latin typeface="Roboto"/>
                <a:cs typeface="Roboto"/>
              </a:rPr>
              <a:t>Material</a:t>
            </a:r>
            <a:r>
              <a:rPr sz="1500" spc="-4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A4A4A"/>
                </a:solidFill>
                <a:latin typeface="Roboto"/>
                <a:cs typeface="Roboto"/>
              </a:rPr>
              <a:t>Design</a:t>
            </a:r>
            <a:r>
              <a:rPr sz="15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A4A4A"/>
                </a:solidFill>
                <a:latin typeface="Roboto"/>
                <a:cs typeface="Roboto"/>
              </a:rPr>
              <a:t>is</a:t>
            </a:r>
            <a:r>
              <a:rPr sz="1500" spc="-4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A4A4A"/>
                </a:solidFill>
                <a:latin typeface="Roboto"/>
                <a:cs typeface="Roboto"/>
              </a:rPr>
              <a:t>an</a:t>
            </a:r>
            <a:r>
              <a:rPr sz="15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500" spc="-55" dirty="0">
                <a:solidFill>
                  <a:srgbClr val="4A4A4A"/>
                </a:solidFill>
                <a:latin typeface="Roboto"/>
                <a:cs typeface="Roboto"/>
              </a:rPr>
              <a:t>open-</a:t>
            </a:r>
            <a:r>
              <a:rPr sz="1500" spc="-25" dirty="0">
                <a:solidFill>
                  <a:srgbClr val="4A4A4A"/>
                </a:solidFill>
                <a:latin typeface="Roboto"/>
                <a:cs typeface="Roboto"/>
              </a:rPr>
              <a:t>source</a:t>
            </a:r>
            <a:r>
              <a:rPr sz="1500" spc="-4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A4A4A"/>
                </a:solidFill>
                <a:latin typeface="Roboto"/>
                <a:cs typeface="Roboto"/>
              </a:rPr>
              <a:t>design</a:t>
            </a:r>
            <a:r>
              <a:rPr sz="15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A4A4A"/>
                </a:solidFill>
                <a:latin typeface="Roboto"/>
                <a:cs typeface="Roboto"/>
              </a:rPr>
              <a:t>system built</a:t>
            </a:r>
            <a:r>
              <a:rPr sz="1500" spc="-6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A4A4A"/>
                </a:solidFill>
                <a:latin typeface="Roboto"/>
                <a:cs typeface="Roboto"/>
              </a:rPr>
              <a:t>and</a:t>
            </a:r>
            <a:r>
              <a:rPr sz="1500" spc="-6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A4A4A"/>
                </a:solidFill>
                <a:latin typeface="Roboto"/>
                <a:cs typeface="Roboto"/>
              </a:rPr>
              <a:t>supported</a:t>
            </a:r>
            <a:r>
              <a:rPr sz="1500" spc="-6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A4A4A"/>
                </a:solidFill>
                <a:latin typeface="Roboto"/>
                <a:cs typeface="Roboto"/>
              </a:rPr>
              <a:t>by</a:t>
            </a:r>
            <a:r>
              <a:rPr sz="1500" spc="-6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A4A4A"/>
                </a:solidFill>
                <a:latin typeface="Roboto"/>
                <a:cs typeface="Roboto"/>
              </a:rPr>
              <a:t>Google</a:t>
            </a:r>
            <a:r>
              <a:rPr sz="1500" spc="-6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A4A4A"/>
                </a:solidFill>
                <a:latin typeface="Roboto"/>
                <a:cs typeface="Roboto"/>
              </a:rPr>
              <a:t>designers</a:t>
            </a:r>
            <a:r>
              <a:rPr sz="1500" spc="-6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A4A4A"/>
                </a:solidFill>
                <a:latin typeface="Roboto"/>
                <a:cs typeface="Roboto"/>
              </a:rPr>
              <a:t>and </a:t>
            </a:r>
            <a:r>
              <a:rPr sz="1500" spc="-10" dirty="0">
                <a:solidFill>
                  <a:srgbClr val="4A4A4A"/>
                </a:solidFill>
                <a:latin typeface="Roboto"/>
                <a:cs typeface="Roboto"/>
              </a:rPr>
              <a:t>developers.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25" y="705451"/>
            <a:ext cx="4392475" cy="36950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35135"/>
            <a:ext cx="37274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6335" algn="l"/>
              </a:tabLst>
            </a:pPr>
            <a:r>
              <a:rPr spc="-320" dirty="0"/>
              <a:t>main()</a:t>
            </a:r>
            <a:r>
              <a:rPr dirty="0"/>
              <a:t>	</a:t>
            </a:r>
            <a:r>
              <a:rPr spc="-315" dirty="0"/>
              <a:t>runApp()</a:t>
            </a:r>
            <a:r>
              <a:rPr spc="-225" dirty="0"/>
              <a:t> </a:t>
            </a:r>
            <a:r>
              <a:rPr spc="-21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533214"/>
            <a:ext cx="4558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the</a:t>
            </a:r>
            <a:r>
              <a:rPr sz="1700" spc="-3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main()</a:t>
            </a:r>
            <a:r>
              <a:rPr sz="1700" spc="-1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function</a:t>
            </a:r>
            <a:r>
              <a:rPr sz="1700" spc="-2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is</a:t>
            </a:r>
            <a:r>
              <a:rPr sz="1700" spc="-1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used</a:t>
            </a:r>
            <a:r>
              <a:rPr sz="1700" spc="-1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to</a:t>
            </a:r>
            <a:r>
              <a:rPr sz="1700" spc="-2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start</a:t>
            </a:r>
            <a:r>
              <a:rPr sz="1700" spc="-1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the</a:t>
            </a:r>
            <a:r>
              <a:rPr sz="1700" spc="-1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D5155"/>
                </a:solidFill>
                <a:latin typeface="Arial MT"/>
                <a:cs typeface="Arial MT"/>
              </a:rPr>
              <a:t>program.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506669"/>
            <a:ext cx="8240395" cy="61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runApp()</a:t>
            </a:r>
            <a:r>
              <a:rPr sz="1700" spc="-3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function</a:t>
            </a:r>
            <a:r>
              <a:rPr sz="1700" spc="-2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is</a:t>
            </a:r>
            <a:r>
              <a:rPr sz="1700" spc="-1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used</a:t>
            </a:r>
            <a:r>
              <a:rPr sz="1700" spc="-2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to</a:t>
            </a:r>
            <a:r>
              <a:rPr sz="1700" spc="-1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return</a:t>
            </a:r>
            <a:r>
              <a:rPr sz="1700" spc="-2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the</a:t>
            </a:r>
            <a:r>
              <a:rPr sz="1700" spc="-1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widgets</a:t>
            </a:r>
            <a:r>
              <a:rPr sz="1700" spc="-2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that</a:t>
            </a:r>
            <a:r>
              <a:rPr sz="1700" spc="-1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are</a:t>
            </a:r>
            <a:r>
              <a:rPr sz="1700" spc="-2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connected</a:t>
            </a:r>
            <a:r>
              <a:rPr sz="1700" spc="-1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to</a:t>
            </a:r>
            <a:r>
              <a:rPr sz="1700" spc="-2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the</a:t>
            </a:r>
            <a:r>
              <a:rPr sz="1700" spc="-1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screen</a:t>
            </a:r>
            <a:r>
              <a:rPr sz="1700" spc="-2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as</a:t>
            </a:r>
            <a:r>
              <a:rPr sz="1700" spc="-1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4D5155"/>
                </a:solidFill>
                <a:latin typeface="Arial MT"/>
                <a:cs typeface="Arial MT"/>
              </a:rPr>
              <a:t>the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root</a:t>
            </a:r>
            <a:r>
              <a:rPr sz="1700" spc="-2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of</a:t>
            </a:r>
            <a:r>
              <a:rPr sz="1700" spc="-1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the</a:t>
            </a:r>
            <a:r>
              <a:rPr sz="1700" spc="-1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widget</a:t>
            </a:r>
            <a:r>
              <a:rPr sz="17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17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tree</a:t>
            </a:r>
            <a:r>
              <a:rPr sz="17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to</a:t>
            </a:r>
            <a:r>
              <a:rPr sz="1700" spc="-1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be</a:t>
            </a:r>
            <a:r>
              <a:rPr sz="1700" spc="-1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rendered</a:t>
            </a:r>
            <a:r>
              <a:rPr sz="1700" spc="-1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on</a:t>
            </a:r>
            <a:r>
              <a:rPr sz="1700" spc="-10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D5155"/>
                </a:solidFill>
                <a:latin typeface="Arial MT"/>
                <a:cs typeface="Arial MT"/>
              </a:rPr>
              <a:t>the</a:t>
            </a:r>
            <a:r>
              <a:rPr sz="1700" spc="-10" dirty="0">
                <a:solidFill>
                  <a:srgbClr val="4D5155"/>
                </a:solidFill>
                <a:latin typeface="Arial MT"/>
                <a:cs typeface="Arial MT"/>
              </a:rPr>
              <a:t> screen.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682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00"/>
              </a:spcBef>
            </a:pPr>
            <a:r>
              <a:rPr spc="-335" dirty="0">
                <a:solidFill>
                  <a:srgbClr val="0000FF"/>
                </a:solidFill>
              </a:rPr>
              <a:t>What</a:t>
            </a:r>
            <a:r>
              <a:rPr spc="-250" dirty="0">
                <a:solidFill>
                  <a:srgbClr val="0000FF"/>
                </a:solidFill>
              </a:rPr>
              <a:t> </a:t>
            </a:r>
            <a:r>
              <a:rPr spc="-275" dirty="0">
                <a:solidFill>
                  <a:srgbClr val="0000FF"/>
                </a:solidFill>
              </a:rPr>
              <a:t>are</a:t>
            </a:r>
            <a:r>
              <a:rPr spc="-245" dirty="0">
                <a:solidFill>
                  <a:srgbClr val="0000FF"/>
                </a:solidFill>
              </a:rPr>
              <a:t> </a:t>
            </a:r>
            <a:r>
              <a:rPr spc="-265" dirty="0">
                <a:solidFill>
                  <a:srgbClr val="0000FF"/>
                </a:solidFill>
              </a:rPr>
              <a:t>Widgets</a:t>
            </a:r>
            <a:r>
              <a:rPr spc="-245" dirty="0">
                <a:solidFill>
                  <a:srgbClr val="0000FF"/>
                </a:solidFill>
              </a:rPr>
              <a:t> </a:t>
            </a:r>
            <a:r>
              <a:rPr spc="-5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92701"/>
            <a:ext cx="494411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70" dirty="0">
                <a:solidFill>
                  <a:srgbClr val="273138"/>
                </a:solidFill>
                <a:latin typeface="Arial MT"/>
                <a:cs typeface="Arial MT"/>
              </a:rPr>
              <a:t>Each</a:t>
            </a:r>
            <a:r>
              <a:rPr sz="1800" spc="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73138"/>
                </a:solidFill>
                <a:latin typeface="Arial MT"/>
                <a:cs typeface="Arial MT"/>
              </a:rPr>
              <a:t>element</a:t>
            </a:r>
            <a:r>
              <a:rPr sz="1800" spc="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73138"/>
                </a:solidFill>
                <a:latin typeface="Arial MT"/>
                <a:cs typeface="Arial MT"/>
              </a:rPr>
              <a:t>on</a:t>
            </a:r>
            <a:r>
              <a:rPr sz="1800" spc="1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73138"/>
                </a:solidFill>
                <a:latin typeface="Arial MT"/>
                <a:cs typeface="Arial MT"/>
              </a:rPr>
              <a:t>a</a:t>
            </a:r>
            <a:r>
              <a:rPr sz="1800" spc="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73138"/>
                </a:solidFill>
                <a:latin typeface="Arial MT"/>
                <a:cs typeface="Arial MT"/>
              </a:rPr>
              <a:t>screen</a:t>
            </a:r>
            <a:r>
              <a:rPr sz="1800" spc="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73138"/>
                </a:solidFill>
                <a:latin typeface="Arial MT"/>
                <a:cs typeface="Arial MT"/>
              </a:rPr>
              <a:t>of</a:t>
            </a:r>
            <a:r>
              <a:rPr sz="1800" spc="1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800" spc="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73138"/>
                </a:solidFill>
                <a:latin typeface="Arial MT"/>
                <a:cs typeface="Arial MT"/>
              </a:rPr>
              <a:t>Flutter</a:t>
            </a:r>
            <a:r>
              <a:rPr sz="1800" spc="1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73138"/>
                </a:solidFill>
                <a:latin typeface="Arial MT"/>
                <a:cs typeface="Arial MT"/>
              </a:rPr>
              <a:t>app</a:t>
            </a:r>
            <a:r>
              <a:rPr sz="1800" spc="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73138"/>
                </a:solidFill>
                <a:latin typeface="Arial MT"/>
                <a:cs typeface="Arial MT"/>
              </a:rPr>
              <a:t>is</a:t>
            </a:r>
            <a:r>
              <a:rPr sz="1800" spc="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273138"/>
                </a:solidFill>
                <a:latin typeface="Arial MT"/>
                <a:cs typeface="Arial MT"/>
              </a:rPr>
              <a:t>a </a:t>
            </a:r>
            <a:r>
              <a:rPr sz="1800" spc="45" dirty="0">
                <a:solidFill>
                  <a:srgbClr val="273138"/>
                </a:solidFill>
                <a:latin typeface="Arial MT"/>
                <a:cs typeface="Arial MT"/>
              </a:rPr>
              <a:t>widget.</a:t>
            </a:r>
            <a:r>
              <a:rPr sz="1800" spc="-6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273138"/>
                </a:solidFill>
                <a:latin typeface="Arial MT"/>
                <a:cs typeface="Arial MT"/>
              </a:rPr>
              <a:t>Each</a:t>
            </a:r>
            <a:r>
              <a:rPr sz="1800" spc="-5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273138"/>
                </a:solidFill>
                <a:latin typeface="Arial MT"/>
                <a:cs typeface="Arial MT"/>
              </a:rPr>
              <a:t>widget</a:t>
            </a:r>
            <a:r>
              <a:rPr sz="1800" spc="-5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73138"/>
                </a:solidFill>
                <a:latin typeface="Arial MT"/>
                <a:cs typeface="Arial MT"/>
              </a:rPr>
              <a:t>is</a:t>
            </a:r>
            <a:r>
              <a:rPr sz="1800" spc="-6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73138"/>
                </a:solidFill>
                <a:latin typeface="Arial MT"/>
                <a:cs typeface="Arial MT"/>
              </a:rPr>
              <a:t>a</a:t>
            </a:r>
            <a:r>
              <a:rPr sz="1800" spc="38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A4A4A"/>
                </a:solidFill>
                <a:latin typeface="Roboto"/>
                <a:cs typeface="Roboto"/>
              </a:rPr>
              <a:t>part</a:t>
            </a:r>
            <a:r>
              <a:rPr sz="18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A4A4A"/>
                </a:solidFill>
                <a:latin typeface="Roboto"/>
                <a:cs typeface="Roboto"/>
              </a:rPr>
              <a:t>of</a:t>
            </a:r>
            <a:r>
              <a:rPr sz="1800" spc="-2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A4A4A"/>
                </a:solidFill>
                <a:latin typeface="Roboto"/>
                <a:cs typeface="Roboto"/>
              </a:rPr>
              <a:t>a</a:t>
            </a:r>
            <a:r>
              <a:rPr sz="1800" spc="-2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A4A4A"/>
                </a:solidFill>
                <a:latin typeface="Roboto"/>
                <a:cs typeface="Roboto"/>
              </a:rPr>
              <a:t>user</a:t>
            </a:r>
            <a:r>
              <a:rPr sz="1800" spc="-2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A4A4A"/>
                </a:solidFill>
                <a:latin typeface="Roboto"/>
                <a:cs typeface="Roboto"/>
              </a:rPr>
              <a:t>interface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835726"/>
            <a:ext cx="5619115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4A4A4A"/>
                </a:solidFill>
                <a:latin typeface="Roboto"/>
                <a:cs typeface="Roboto"/>
              </a:rPr>
              <a:t>Widget</a:t>
            </a:r>
            <a:r>
              <a:rPr sz="1800" spc="-7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A4A4A"/>
                </a:solidFill>
                <a:latin typeface="Roboto"/>
                <a:cs typeface="Roboto"/>
              </a:rPr>
              <a:t>Tree</a:t>
            </a:r>
            <a:r>
              <a:rPr sz="18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A4A4A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040C28"/>
                </a:solidFill>
                <a:latin typeface="Arial MT"/>
                <a:cs typeface="Arial MT"/>
              </a:rPr>
              <a:t>position</a:t>
            </a:r>
            <a:r>
              <a:rPr sz="1800" spc="-40" dirty="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40C28"/>
                </a:solidFill>
                <a:latin typeface="Arial MT"/>
                <a:cs typeface="Arial MT"/>
              </a:rPr>
              <a:t>widgets</a:t>
            </a:r>
            <a:r>
              <a:rPr sz="1800" spc="-35" dirty="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40C28"/>
                </a:solidFill>
                <a:latin typeface="Arial MT"/>
                <a:cs typeface="Arial MT"/>
              </a:rPr>
              <a:t>within</a:t>
            </a:r>
            <a:r>
              <a:rPr sz="1800" spc="-40" dirty="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40C28"/>
                </a:solidFill>
                <a:latin typeface="Arial MT"/>
                <a:cs typeface="Arial MT"/>
              </a:rPr>
              <a:t>each</a:t>
            </a:r>
            <a:r>
              <a:rPr sz="1800" spc="-35" dirty="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40C28"/>
                </a:solidFill>
                <a:latin typeface="Arial MT"/>
                <a:cs typeface="Arial MT"/>
              </a:rPr>
              <a:t>other</a:t>
            </a:r>
            <a:r>
              <a:rPr sz="1800" spc="-35" dirty="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40C28"/>
                </a:solidFill>
                <a:latin typeface="Arial MT"/>
                <a:cs typeface="Arial MT"/>
              </a:rPr>
              <a:t>to</a:t>
            </a:r>
            <a:r>
              <a:rPr sz="1800" spc="-40" dirty="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40C28"/>
                </a:solidFill>
                <a:latin typeface="Arial MT"/>
                <a:cs typeface="Arial MT"/>
              </a:rPr>
              <a:t>build </a:t>
            </a:r>
            <a:r>
              <a:rPr sz="1800" dirty="0">
                <a:solidFill>
                  <a:srgbClr val="040C28"/>
                </a:solidFill>
                <a:latin typeface="Arial MT"/>
                <a:cs typeface="Arial MT"/>
              </a:rPr>
              <a:t>simple</a:t>
            </a:r>
            <a:r>
              <a:rPr sz="1800" spc="-10" dirty="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40C28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40C28"/>
                </a:solidFill>
                <a:latin typeface="Arial MT"/>
                <a:cs typeface="Arial MT"/>
              </a:rPr>
              <a:t>complex</a:t>
            </a:r>
            <a:r>
              <a:rPr sz="1800" spc="-5" dirty="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40C28"/>
                </a:solidFill>
                <a:latin typeface="Arial MT"/>
                <a:cs typeface="Arial MT"/>
              </a:rPr>
              <a:t>layouts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644625"/>
            <a:ext cx="3383823" cy="42464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432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Widget</a:t>
            </a:r>
            <a:r>
              <a:rPr spc="-245" dirty="0"/>
              <a:t> </a:t>
            </a:r>
            <a:r>
              <a:rPr spc="-395" dirty="0"/>
              <a:t>Tree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00" y="644625"/>
            <a:ext cx="9040425" cy="42464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35135"/>
            <a:ext cx="9493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535753"/>
            <a:ext cx="2879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A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widget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that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centers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its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child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within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itself.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213934"/>
            <a:ext cx="8270875" cy="107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This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widget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will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be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as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big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as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possible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if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its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dimensions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are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constrained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and</a:t>
            </a:r>
            <a:r>
              <a:rPr sz="1200" spc="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01AED1"/>
                </a:solidFill>
                <a:latin typeface="Roboto"/>
                <a:cs typeface="Roboto"/>
                <a:hlinkClick r:id="rId2"/>
              </a:rPr>
              <a:t>widthFactor</a:t>
            </a:r>
            <a:r>
              <a:rPr sz="1200" spc="-30" dirty="0">
                <a:solidFill>
                  <a:srgbClr val="01AED1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and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01AED1"/>
                </a:solidFill>
                <a:latin typeface="Roboto"/>
                <a:cs typeface="Roboto"/>
                <a:hlinkClick r:id="rId3"/>
              </a:rPr>
              <a:t>heightFactor</a:t>
            </a:r>
            <a:r>
              <a:rPr sz="1200" spc="-20" dirty="0">
                <a:solidFill>
                  <a:srgbClr val="01AED1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are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null.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If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50" dirty="0">
                <a:solidFill>
                  <a:srgbClr val="4A4A4A"/>
                </a:solidFill>
                <a:latin typeface="Roboto"/>
                <a:cs typeface="Roboto"/>
              </a:rPr>
              <a:t>a 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dimension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is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unconstrained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and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the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corresponding</a:t>
            </a:r>
            <a:r>
              <a:rPr sz="1200" spc="-3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size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factor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is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null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then</a:t>
            </a:r>
            <a:r>
              <a:rPr sz="1200" spc="-3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the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widget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will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match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its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child's</a:t>
            </a:r>
            <a:r>
              <a:rPr sz="1200" spc="-3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size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in</a:t>
            </a:r>
            <a:r>
              <a:rPr sz="1200" spc="-4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that dimension.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If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a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size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factor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is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60" dirty="0">
                <a:solidFill>
                  <a:srgbClr val="4A4A4A"/>
                </a:solidFill>
                <a:latin typeface="Roboto"/>
                <a:cs typeface="Roboto"/>
              </a:rPr>
              <a:t>non-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null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then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 corresponding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dimension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of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this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widget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will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be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the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product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of</a:t>
            </a:r>
            <a:r>
              <a:rPr sz="1200" spc="-2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child's 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dimension</a:t>
            </a:r>
            <a:r>
              <a:rPr sz="1200" spc="-3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and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the</a:t>
            </a:r>
            <a:r>
              <a:rPr sz="1200" spc="-3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size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factor.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For</a:t>
            </a:r>
            <a:r>
              <a:rPr sz="1200" spc="-3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example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if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widthFactor</a:t>
            </a:r>
            <a:r>
              <a:rPr sz="1200" spc="-3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is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2.0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then</a:t>
            </a:r>
            <a:r>
              <a:rPr sz="1200" spc="-3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the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width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of</a:t>
            </a:r>
            <a:r>
              <a:rPr sz="1200" spc="-3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this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widget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will</a:t>
            </a:r>
            <a:r>
              <a:rPr sz="1200" spc="-3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4A4A4A"/>
                </a:solidFill>
                <a:latin typeface="Roboto"/>
                <a:cs typeface="Roboto"/>
              </a:rPr>
              <a:t>always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be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twice</a:t>
            </a:r>
            <a:r>
              <a:rPr sz="1200" spc="-3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4A4A"/>
                </a:solidFill>
                <a:latin typeface="Roboto"/>
                <a:cs typeface="Roboto"/>
              </a:rPr>
              <a:t>its</a:t>
            </a:r>
            <a:r>
              <a:rPr sz="1200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4A4A"/>
                </a:solidFill>
                <a:latin typeface="Roboto"/>
                <a:cs typeface="Roboto"/>
              </a:rPr>
              <a:t>child's width.</a:t>
            </a:r>
            <a:endParaRPr sz="12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682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Column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widget</a:t>
            </a:r>
            <a:r>
              <a:rPr spc="-20" dirty="0"/>
              <a:t> </a:t>
            </a:r>
            <a:r>
              <a:rPr spc="-10" dirty="0"/>
              <a:t>that</a:t>
            </a:r>
            <a:r>
              <a:rPr spc="-25" dirty="0"/>
              <a:t> </a:t>
            </a:r>
            <a:r>
              <a:rPr spc="-20" dirty="0"/>
              <a:t>displays </a:t>
            </a:r>
            <a:r>
              <a:rPr dirty="0"/>
              <a:t>its</a:t>
            </a:r>
            <a:r>
              <a:rPr spc="-25" dirty="0"/>
              <a:t> </a:t>
            </a:r>
            <a:r>
              <a:rPr spc="-20" dirty="0"/>
              <a:t>children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10" dirty="0"/>
              <a:t>vertical</a:t>
            </a:r>
            <a:r>
              <a:rPr spc="-20" dirty="0"/>
              <a:t> </a:t>
            </a:r>
            <a:r>
              <a:rPr spc="-10" dirty="0"/>
              <a:t>array.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To</a:t>
            </a:r>
            <a:r>
              <a:rPr spc="-45" dirty="0"/>
              <a:t> </a:t>
            </a:r>
            <a:r>
              <a:rPr dirty="0"/>
              <a:t>cause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child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-10" dirty="0"/>
              <a:t>expand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-10" dirty="0"/>
              <a:t>fill</a:t>
            </a:r>
            <a:r>
              <a:rPr spc="-4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available</a:t>
            </a:r>
            <a:r>
              <a:rPr spc="-40" dirty="0"/>
              <a:t> </a:t>
            </a:r>
            <a:r>
              <a:rPr spc="-10" dirty="0"/>
              <a:t>vertical</a:t>
            </a:r>
            <a:r>
              <a:rPr spc="-40" dirty="0"/>
              <a:t> </a:t>
            </a:r>
            <a:r>
              <a:rPr dirty="0"/>
              <a:t>space,</a:t>
            </a:r>
            <a:r>
              <a:rPr spc="-45" dirty="0"/>
              <a:t> </a:t>
            </a:r>
            <a:r>
              <a:rPr spc="-10" dirty="0"/>
              <a:t>wrap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child</a:t>
            </a:r>
            <a:r>
              <a:rPr spc="-4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an</a:t>
            </a:r>
            <a:r>
              <a:rPr spc="35" dirty="0"/>
              <a:t> </a:t>
            </a:r>
            <a:r>
              <a:rPr spc="-10" dirty="0">
                <a:solidFill>
                  <a:srgbClr val="01AED1"/>
                </a:solidFill>
                <a:hlinkClick r:id="rId2"/>
              </a:rPr>
              <a:t>Expanded</a:t>
            </a:r>
            <a:r>
              <a:rPr spc="-30" dirty="0">
                <a:solidFill>
                  <a:srgbClr val="01AED1"/>
                </a:solidFill>
              </a:rPr>
              <a:t> </a:t>
            </a:r>
            <a:r>
              <a:rPr spc="-10" dirty="0"/>
              <a:t>widget.</a:t>
            </a:r>
          </a:p>
          <a:p>
            <a:pPr marL="12700" marR="5080">
              <a:lnSpc>
                <a:spcPct val="114599"/>
              </a:lnSpc>
              <a:spcBef>
                <a:spcPts val="1200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>
                <a:solidFill>
                  <a:srgbClr val="01AED1"/>
                </a:solidFill>
                <a:hlinkClick r:id="rId3"/>
              </a:rPr>
              <a:t>Column</a:t>
            </a:r>
            <a:r>
              <a:rPr spc="-40" dirty="0">
                <a:solidFill>
                  <a:srgbClr val="01AED1"/>
                </a:solidFill>
              </a:rPr>
              <a:t> </a:t>
            </a:r>
            <a:r>
              <a:rPr spc="-10" dirty="0"/>
              <a:t>widget</a:t>
            </a:r>
            <a:r>
              <a:rPr spc="-45" dirty="0"/>
              <a:t> </a:t>
            </a:r>
            <a:r>
              <a:rPr dirty="0"/>
              <a:t>does</a:t>
            </a:r>
            <a:r>
              <a:rPr spc="-45" dirty="0"/>
              <a:t> </a:t>
            </a:r>
            <a:r>
              <a:rPr dirty="0"/>
              <a:t>not</a:t>
            </a:r>
            <a:r>
              <a:rPr spc="-45" dirty="0"/>
              <a:t> </a:t>
            </a:r>
            <a:r>
              <a:rPr spc="-10" dirty="0"/>
              <a:t>scroll</a:t>
            </a:r>
            <a:r>
              <a:rPr spc="-40" dirty="0"/>
              <a:t> </a:t>
            </a:r>
            <a:r>
              <a:rPr dirty="0"/>
              <a:t>(and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-10" dirty="0"/>
              <a:t>general</a:t>
            </a:r>
            <a:r>
              <a:rPr spc="-45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10" dirty="0"/>
              <a:t>considered</a:t>
            </a:r>
            <a:r>
              <a:rPr spc="-45" dirty="0"/>
              <a:t> </a:t>
            </a:r>
            <a:r>
              <a:rPr dirty="0"/>
              <a:t>an</a:t>
            </a:r>
            <a:r>
              <a:rPr spc="-45" dirty="0"/>
              <a:t> </a:t>
            </a:r>
            <a:r>
              <a:rPr spc="-10" dirty="0"/>
              <a:t>error</a:t>
            </a:r>
            <a:r>
              <a:rPr spc="-4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spc="-10" dirty="0"/>
              <a:t>have</a:t>
            </a:r>
            <a:r>
              <a:rPr spc="-45" dirty="0"/>
              <a:t> </a:t>
            </a:r>
            <a:r>
              <a:rPr dirty="0"/>
              <a:t>more</a:t>
            </a:r>
            <a:r>
              <a:rPr spc="-45" dirty="0"/>
              <a:t> </a:t>
            </a:r>
            <a:r>
              <a:rPr spc="-20" dirty="0"/>
              <a:t>children</a:t>
            </a:r>
            <a:r>
              <a:rPr spc="-4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</a:t>
            </a:r>
            <a:r>
              <a:rPr spc="30" dirty="0"/>
              <a:t> </a:t>
            </a:r>
            <a:r>
              <a:rPr dirty="0">
                <a:solidFill>
                  <a:srgbClr val="01AED1"/>
                </a:solidFill>
                <a:hlinkClick r:id="rId3"/>
              </a:rPr>
              <a:t>Column</a:t>
            </a:r>
            <a:r>
              <a:rPr spc="-40" dirty="0">
                <a:solidFill>
                  <a:srgbClr val="01AED1"/>
                </a:solidFill>
              </a:rPr>
              <a:t> </a:t>
            </a:r>
            <a:r>
              <a:rPr spc="-10" dirty="0"/>
              <a:t>than</a:t>
            </a:r>
            <a:r>
              <a:rPr spc="-45" dirty="0"/>
              <a:t> </a:t>
            </a:r>
            <a:r>
              <a:rPr dirty="0"/>
              <a:t>will</a:t>
            </a:r>
            <a:r>
              <a:rPr spc="-45" dirty="0"/>
              <a:t> </a:t>
            </a:r>
            <a:r>
              <a:rPr dirty="0"/>
              <a:t>fit</a:t>
            </a:r>
            <a:r>
              <a:rPr spc="-40" dirty="0"/>
              <a:t> </a:t>
            </a:r>
            <a:r>
              <a:rPr spc="-25" dirty="0"/>
              <a:t>in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available</a:t>
            </a:r>
            <a:r>
              <a:rPr spc="-40" dirty="0"/>
              <a:t> </a:t>
            </a:r>
            <a:r>
              <a:rPr dirty="0"/>
              <a:t>room).</a:t>
            </a:r>
            <a:r>
              <a:rPr spc="-35" dirty="0"/>
              <a:t> </a:t>
            </a:r>
            <a:r>
              <a:rPr dirty="0"/>
              <a:t>If</a:t>
            </a:r>
            <a:r>
              <a:rPr spc="-40" dirty="0"/>
              <a:t> </a:t>
            </a:r>
            <a:r>
              <a:rPr spc="-10" dirty="0"/>
              <a:t>you</a:t>
            </a:r>
            <a:r>
              <a:rPr spc="-35" dirty="0"/>
              <a:t> </a:t>
            </a:r>
            <a:r>
              <a:rPr spc="-10" dirty="0"/>
              <a:t>have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line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widgets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want</a:t>
            </a:r>
            <a:r>
              <a:rPr spc="-40" dirty="0"/>
              <a:t> </a:t>
            </a:r>
            <a:r>
              <a:rPr dirty="0"/>
              <a:t>them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dirty="0"/>
              <a:t>able</a:t>
            </a:r>
            <a:r>
              <a:rPr spc="-4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10" dirty="0"/>
              <a:t>scroll</a:t>
            </a:r>
            <a:r>
              <a:rPr spc="-40" dirty="0"/>
              <a:t> </a:t>
            </a:r>
            <a:r>
              <a:rPr dirty="0"/>
              <a:t>if</a:t>
            </a:r>
            <a:r>
              <a:rPr spc="-35" dirty="0"/>
              <a:t> </a:t>
            </a:r>
            <a:r>
              <a:rPr dirty="0"/>
              <a:t>there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25" dirty="0"/>
              <a:t>insufficient</a:t>
            </a:r>
            <a:r>
              <a:rPr spc="-40" dirty="0"/>
              <a:t> </a:t>
            </a:r>
            <a:r>
              <a:rPr dirty="0"/>
              <a:t>room,</a:t>
            </a:r>
            <a:r>
              <a:rPr spc="-35" dirty="0"/>
              <a:t> </a:t>
            </a:r>
            <a:r>
              <a:rPr spc="-10" dirty="0"/>
              <a:t>consider using</a:t>
            </a:r>
            <a:r>
              <a:rPr spc="-4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>
                <a:solidFill>
                  <a:srgbClr val="01AED1"/>
                </a:solidFill>
                <a:hlinkClick r:id="rId4"/>
              </a:rPr>
              <a:t>ListView</a:t>
            </a:r>
            <a:r>
              <a:rPr spc="-10" dirty="0"/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88812" y="2503350"/>
            <a:ext cx="4886324" cy="24764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25" y="73671"/>
            <a:ext cx="2061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0000FF"/>
                </a:solidFill>
                <a:latin typeface="Arial"/>
                <a:cs typeface="Arial"/>
              </a:rPr>
              <a:t>Category</a:t>
            </a:r>
            <a:r>
              <a:rPr sz="1600" b="1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600" b="1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Arial"/>
                <a:cs typeface="Arial"/>
              </a:rPr>
              <a:t>Widgets: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025" y="411041"/>
            <a:ext cx="8896985" cy="452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>
              <a:lnSpc>
                <a:spcPct val="115399"/>
              </a:lnSpc>
              <a:spcBef>
                <a:spcPts val="100"/>
              </a:spcBef>
            </a:pP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There</a:t>
            </a:r>
            <a:r>
              <a:rPr sz="13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are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mainly</a:t>
            </a:r>
            <a:r>
              <a:rPr sz="13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spc="50" dirty="0">
                <a:solidFill>
                  <a:srgbClr val="273138"/>
                </a:solidFill>
                <a:latin typeface="Arial MT"/>
                <a:cs typeface="Arial MT"/>
              </a:rPr>
              <a:t>14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categories</a:t>
            </a:r>
            <a:r>
              <a:rPr sz="13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in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which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3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spc="50" dirty="0">
                <a:solidFill>
                  <a:srgbClr val="273138"/>
                </a:solidFill>
                <a:latin typeface="Arial MT"/>
                <a:cs typeface="Arial MT"/>
              </a:rPr>
              <a:t>ﬂutter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widgets</a:t>
            </a:r>
            <a:r>
              <a:rPr sz="13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are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divided.</a:t>
            </a:r>
            <a:r>
              <a:rPr sz="13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They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are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mainly</a:t>
            </a:r>
            <a:r>
              <a:rPr sz="13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segregated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on</a:t>
            </a:r>
            <a:r>
              <a:rPr sz="13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basis</a:t>
            </a:r>
            <a:r>
              <a:rPr sz="13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of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73138"/>
                </a:solidFill>
                <a:latin typeface="Arial MT"/>
                <a:cs typeface="Arial MT"/>
              </a:rPr>
              <a:t>the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functionality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they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provide</a:t>
            </a:r>
            <a:r>
              <a:rPr sz="13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in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73138"/>
                </a:solidFill>
                <a:latin typeface="Arial MT"/>
                <a:cs typeface="Arial MT"/>
              </a:rPr>
              <a:t>a</a:t>
            </a:r>
            <a:r>
              <a:rPr sz="13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spc="50" dirty="0">
                <a:solidFill>
                  <a:srgbClr val="273138"/>
                </a:solidFill>
                <a:latin typeface="Arial MT"/>
                <a:cs typeface="Arial MT"/>
              </a:rPr>
              <a:t>ﬂutter</a:t>
            </a:r>
            <a:r>
              <a:rPr sz="1300" spc="4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73138"/>
                </a:solidFill>
                <a:latin typeface="Arial MT"/>
                <a:cs typeface="Arial MT"/>
              </a:rPr>
              <a:t>application.</a:t>
            </a:r>
            <a:endParaRPr sz="1300">
              <a:latin typeface="Arial MT"/>
              <a:cs typeface="Arial MT"/>
            </a:endParaRPr>
          </a:p>
          <a:p>
            <a:pPr marL="697865" indent="-344170">
              <a:lnSpc>
                <a:spcPct val="100000"/>
              </a:lnSpc>
              <a:spcBef>
                <a:spcPts val="1070"/>
              </a:spcBef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spc="-40" dirty="0">
                <a:solidFill>
                  <a:srgbClr val="273138"/>
                </a:solidFill>
                <a:latin typeface="Arial"/>
                <a:cs typeface="Arial"/>
              </a:rPr>
              <a:t>Accessibility:</a:t>
            </a:r>
            <a:r>
              <a:rPr sz="1100" b="1" spc="2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These</a:t>
            </a:r>
            <a:r>
              <a:rPr sz="1100" spc="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are</a:t>
            </a:r>
            <a:r>
              <a:rPr sz="1100" spc="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100" spc="3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set</a:t>
            </a:r>
            <a:r>
              <a:rPr sz="1100" spc="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of</a:t>
            </a:r>
            <a:r>
              <a:rPr sz="1100" spc="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widgets</a:t>
            </a:r>
            <a:r>
              <a:rPr sz="1100" spc="3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that</a:t>
            </a:r>
            <a:r>
              <a:rPr sz="1100" spc="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make</a:t>
            </a:r>
            <a:r>
              <a:rPr sz="1100" spc="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</a:t>
            </a:r>
            <a:r>
              <a:rPr sz="1100" spc="3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ﬂutter</a:t>
            </a:r>
            <a:r>
              <a:rPr sz="1100" spc="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app</a:t>
            </a:r>
            <a:r>
              <a:rPr sz="1100" spc="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more</a:t>
            </a:r>
            <a:r>
              <a:rPr sz="1100" spc="3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easily</a:t>
            </a:r>
            <a:r>
              <a:rPr sz="1100" spc="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accessible.</a:t>
            </a:r>
            <a:endParaRPr sz="1100">
              <a:latin typeface="Arial MT"/>
              <a:cs typeface="Arial MT"/>
            </a:endParaRPr>
          </a:p>
          <a:p>
            <a:pPr marL="697865" indent="-344170">
              <a:lnSpc>
                <a:spcPct val="100000"/>
              </a:lnSpc>
              <a:spcBef>
                <a:spcPts val="780"/>
              </a:spcBef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spc="-10" dirty="0">
                <a:solidFill>
                  <a:srgbClr val="273138"/>
                </a:solidFill>
                <a:latin typeface="Arial"/>
                <a:cs typeface="Arial"/>
              </a:rPr>
              <a:t>Animation</a:t>
            </a:r>
            <a:r>
              <a:rPr sz="1100" b="1" spc="3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73138"/>
                </a:solidFill>
                <a:latin typeface="Arial"/>
                <a:cs typeface="Arial"/>
              </a:rPr>
              <a:t>and</a:t>
            </a:r>
            <a:r>
              <a:rPr sz="1100" b="1" spc="35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73138"/>
                </a:solidFill>
                <a:latin typeface="Arial"/>
                <a:cs typeface="Arial"/>
              </a:rPr>
              <a:t>Motion:</a:t>
            </a:r>
            <a:r>
              <a:rPr sz="1100" b="1" spc="1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These</a:t>
            </a:r>
            <a:r>
              <a:rPr sz="1100" spc="2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widgets</a:t>
            </a:r>
            <a:r>
              <a:rPr sz="1100" spc="1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add</a:t>
            </a:r>
            <a:r>
              <a:rPr sz="1100" spc="1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animation</a:t>
            </a:r>
            <a:r>
              <a:rPr sz="1100" spc="2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to</a:t>
            </a:r>
            <a:r>
              <a:rPr sz="1100" spc="1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other</a:t>
            </a:r>
            <a:r>
              <a:rPr sz="1100" spc="1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widgets.</a:t>
            </a:r>
            <a:endParaRPr sz="1100">
              <a:latin typeface="Arial MT"/>
              <a:cs typeface="Arial MT"/>
            </a:endParaRPr>
          </a:p>
          <a:p>
            <a:pPr marL="697865" indent="-344170">
              <a:lnSpc>
                <a:spcPct val="100000"/>
              </a:lnSpc>
              <a:spcBef>
                <a:spcPts val="780"/>
              </a:spcBef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spc="-30" dirty="0">
                <a:solidFill>
                  <a:srgbClr val="273138"/>
                </a:solidFill>
                <a:latin typeface="Arial"/>
                <a:cs typeface="Arial"/>
              </a:rPr>
              <a:t>Assets,</a:t>
            </a:r>
            <a:r>
              <a:rPr sz="1100" b="1" spc="5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273138"/>
                </a:solidFill>
                <a:latin typeface="Arial"/>
                <a:cs typeface="Arial"/>
              </a:rPr>
              <a:t>Images,</a:t>
            </a:r>
            <a:r>
              <a:rPr sz="1100" b="1" spc="1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73138"/>
                </a:solidFill>
                <a:latin typeface="Arial"/>
                <a:cs typeface="Arial"/>
              </a:rPr>
              <a:t>and</a:t>
            </a:r>
            <a:r>
              <a:rPr sz="1100" b="1" spc="1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b="1" spc="-70" dirty="0">
                <a:solidFill>
                  <a:srgbClr val="273138"/>
                </a:solidFill>
                <a:latin typeface="Arial"/>
                <a:cs typeface="Arial"/>
              </a:rPr>
              <a:t>Icons:</a:t>
            </a:r>
            <a:r>
              <a:rPr sz="1100" b="1" spc="-2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These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widgets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take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 charge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of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 assets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such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 as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display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images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and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show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icons.</a:t>
            </a:r>
            <a:endParaRPr sz="1100">
              <a:latin typeface="Arial MT"/>
              <a:cs typeface="Arial MT"/>
            </a:endParaRPr>
          </a:p>
          <a:p>
            <a:pPr marL="697865" indent="-344170">
              <a:lnSpc>
                <a:spcPct val="100000"/>
              </a:lnSpc>
              <a:spcBef>
                <a:spcPts val="780"/>
              </a:spcBef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spc="-65" dirty="0">
                <a:solidFill>
                  <a:srgbClr val="273138"/>
                </a:solidFill>
                <a:latin typeface="Arial"/>
                <a:cs typeface="Arial"/>
              </a:rPr>
              <a:t>Async:</a:t>
            </a:r>
            <a:r>
              <a:rPr sz="1100" b="1" spc="55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These</a:t>
            </a:r>
            <a:r>
              <a:rPr sz="1100" spc="5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provide</a:t>
            </a:r>
            <a:r>
              <a:rPr sz="1100" spc="5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async</a:t>
            </a:r>
            <a:r>
              <a:rPr sz="1100" spc="5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functionality</a:t>
            </a:r>
            <a:r>
              <a:rPr sz="1100" spc="5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in</a:t>
            </a:r>
            <a:r>
              <a:rPr sz="1100" spc="6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100" spc="5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ﬂutter</a:t>
            </a:r>
            <a:r>
              <a:rPr sz="1100" spc="5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application.</a:t>
            </a:r>
            <a:endParaRPr sz="1100">
              <a:latin typeface="Arial MT"/>
              <a:cs typeface="Arial MT"/>
            </a:endParaRPr>
          </a:p>
          <a:p>
            <a:pPr marL="697865" indent="-344170">
              <a:lnSpc>
                <a:spcPct val="100000"/>
              </a:lnSpc>
              <a:spcBef>
                <a:spcPts val="780"/>
              </a:spcBef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spc="-70" dirty="0">
                <a:solidFill>
                  <a:srgbClr val="273138"/>
                </a:solidFill>
                <a:latin typeface="Arial"/>
                <a:cs typeface="Arial"/>
              </a:rPr>
              <a:t>Basics:</a:t>
            </a:r>
            <a:r>
              <a:rPr sz="1100" b="1" spc="45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These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are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bundle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of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widgets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that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are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absolutely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necessary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for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development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of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any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ﬂutter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application.</a:t>
            </a:r>
            <a:endParaRPr sz="1100">
              <a:latin typeface="Arial MT"/>
              <a:cs typeface="Arial MT"/>
            </a:endParaRPr>
          </a:p>
          <a:p>
            <a:pPr marL="697865" indent="-344170">
              <a:lnSpc>
                <a:spcPct val="100000"/>
              </a:lnSpc>
              <a:spcBef>
                <a:spcPts val="780"/>
              </a:spcBef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spc="-25" dirty="0">
                <a:solidFill>
                  <a:srgbClr val="273138"/>
                </a:solidFill>
                <a:latin typeface="Arial"/>
                <a:cs typeface="Arial"/>
              </a:rPr>
              <a:t>Cupertino:</a:t>
            </a:r>
            <a:r>
              <a:rPr sz="1100" b="1" spc="-3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These</a:t>
            </a:r>
            <a:r>
              <a:rPr sz="1100" spc="-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are</a:t>
            </a:r>
            <a:r>
              <a:rPr sz="1100" spc="-3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273138"/>
                </a:solidFill>
                <a:latin typeface="Arial MT"/>
                <a:cs typeface="Arial MT"/>
              </a:rPr>
              <a:t>iOS</a:t>
            </a:r>
            <a:r>
              <a:rPr sz="1100" spc="-3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designed</a:t>
            </a:r>
            <a:r>
              <a:rPr sz="1100" spc="-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widgets.</a:t>
            </a:r>
            <a:endParaRPr sz="1100">
              <a:latin typeface="Arial MT"/>
              <a:cs typeface="Arial MT"/>
            </a:endParaRPr>
          </a:p>
          <a:p>
            <a:pPr marL="697865" indent="-344170">
              <a:lnSpc>
                <a:spcPct val="100000"/>
              </a:lnSpc>
              <a:spcBef>
                <a:spcPts val="780"/>
              </a:spcBef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spc="-20" dirty="0">
                <a:solidFill>
                  <a:srgbClr val="273138"/>
                </a:solidFill>
                <a:latin typeface="Arial"/>
                <a:cs typeface="Arial"/>
              </a:rPr>
              <a:t>Input:</a:t>
            </a:r>
            <a:r>
              <a:rPr sz="1100" b="1" spc="6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This</a:t>
            </a:r>
            <a:r>
              <a:rPr sz="1100" spc="6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set</a:t>
            </a:r>
            <a:r>
              <a:rPr sz="1100" spc="6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of</a:t>
            </a:r>
            <a:r>
              <a:rPr sz="1100" spc="6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widgets</a:t>
            </a:r>
            <a:r>
              <a:rPr sz="1100" spc="6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provides</a:t>
            </a:r>
            <a:r>
              <a:rPr sz="1100" spc="6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input</a:t>
            </a:r>
            <a:r>
              <a:rPr sz="1100" spc="6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functionality</a:t>
            </a:r>
            <a:r>
              <a:rPr sz="1100" spc="6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in</a:t>
            </a:r>
            <a:r>
              <a:rPr sz="1100" spc="6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</a:t>
            </a:r>
            <a:r>
              <a:rPr sz="1100" spc="6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ﬂutter</a:t>
            </a:r>
            <a:r>
              <a:rPr sz="1100" spc="6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application.</a:t>
            </a:r>
            <a:endParaRPr sz="1100">
              <a:latin typeface="Arial MT"/>
              <a:cs typeface="Arial MT"/>
            </a:endParaRPr>
          </a:p>
          <a:p>
            <a:pPr marL="697865" indent="-344170">
              <a:lnSpc>
                <a:spcPct val="100000"/>
              </a:lnSpc>
              <a:spcBef>
                <a:spcPts val="780"/>
              </a:spcBef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spc="-10" dirty="0">
                <a:solidFill>
                  <a:srgbClr val="273138"/>
                </a:solidFill>
                <a:latin typeface="Arial"/>
                <a:cs typeface="Arial"/>
              </a:rPr>
              <a:t>Interaction</a:t>
            </a:r>
            <a:r>
              <a:rPr sz="1100" b="1" spc="2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273138"/>
                </a:solidFill>
                <a:latin typeface="Arial"/>
                <a:cs typeface="Arial"/>
              </a:rPr>
              <a:t>Models:</a:t>
            </a:r>
            <a:r>
              <a:rPr sz="1100" b="1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These</a:t>
            </a:r>
            <a:r>
              <a:rPr sz="1100" spc="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widgets</a:t>
            </a:r>
            <a:r>
              <a:rPr sz="1100" spc="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are</a:t>
            </a:r>
            <a:r>
              <a:rPr sz="1100" spc="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here</a:t>
            </a:r>
            <a:r>
              <a:rPr sz="1100" spc="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to</a:t>
            </a:r>
            <a:r>
              <a:rPr sz="1100" spc="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manage</a:t>
            </a:r>
            <a:r>
              <a:rPr sz="1100" spc="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touch</a:t>
            </a:r>
            <a:r>
              <a:rPr sz="1100" spc="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events</a:t>
            </a:r>
            <a:r>
              <a:rPr sz="1100" spc="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and</a:t>
            </a:r>
            <a:r>
              <a:rPr sz="1100" spc="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route</a:t>
            </a:r>
            <a:r>
              <a:rPr sz="1100" spc="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users</a:t>
            </a:r>
            <a:r>
              <a:rPr sz="1100" spc="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to</a:t>
            </a:r>
            <a:r>
              <a:rPr sz="1100" spc="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different</a:t>
            </a:r>
            <a:r>
              <a:rPr sz="1100" spc="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views</a:t>
            </a:r>
            <a:r>
              <a:rPr sz="1100" spc="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in</a:t>
            </a:r>
            <a:r>
              <a:rPr sz="1100" spc="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100" spc="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application.</a:t>
            </a:r>
            <a:endParaRPr sz="1100">
              <a:latin typeface="Arial MT"/>
              <a:cs typeface="Arial MT"/>
            </a:endParaRPr>
          </a:p>
          <a:p>
            <a:pPr marL="697865" indent="-344170">
              <a:lnSpc>
                <a:spcPct val="100000"/>
              </a:lnSpc>
              <a:spcBef>
                <a:spcPts val="780"/>
              </a:spcBef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spc="-35" dirty="0">
                <a:solidFill>
                  <a:srgbClr val="273138"/>
                </a:solidFill>
                <a:latin typeface="Arial"/>
                <a:cs typeface="Arial"/>
              </a:rPr>
              <a:t>Layout:</a:t>
            </a:r>
            <a:r>
              <a:rPr sz="1100" b="1" spc="3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This</a:t>
            </a:r>
            <a:r>
              <a:rPr sz="11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bundle</a:t>
            </a:r>
            <a:r>
              <a:rPr sz="11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of</a:t>
            </a:r>
            <a:r>
              <a:rPr sz="11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widgets</a:t>
            </a:r>
            <a:r>
              <a:rPr sz="11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helps</a:t>
            </a:r>
            <a:r>
              <a:rPr sz="11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in</a:t>
            </a:r>
            <a:r>
              <a:rPr sz="1100" spc="3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placing</a:t>
            </a:r>
            <a:r>
              <a:rPr sz="11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1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other</a:t>
            </a:r>
            <a:r>
              <a:rPr sz="11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widgets</a:t>
            </a:r>
            <a:r>
              <a:rPr sz="11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on</a:t>
            </a:r>
            <a:r>
              <a:rPr sz="11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1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273138"/>
                </a:solidFill>
                <a:latin typeface="Arial MT"/>
                <a:cs typeface="Arial MT"/>
              </a:rPr>
              <a:t>screen</a:t>
            </a:r>
            <a:r>
              <a:rPr sz="1100" spc="3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as</a:t>
            </a:r>
            <a:r>
              <a:rPr sz="1100" spc="3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needed.</a:t>
            </a:r>
            <a:endParaRPr sz="1100">
              <a:latin typeface="Arial MT"/>
              <a:cs typeface="Arial MT"/>
            </a:endParaRPr>
          </a:p>
          <a:p>
            <a:pPr marL="697865" indent="-427355">
              <a:lnSpc>
                <a:spcPct val="100000"/>
              </a:lnSpc>
              <a:spcBef>
                <a:spcPts val="780"/>
              </a:spcBef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dirty="0">
                <a:solidFill>
                  <a:srgbClr val="273138"/>
                </a:solidFill>
                <a:latin typeface="Arial"/>
                <a:cs typeface="Arial"/>
              </a:rPr>
              <a:t>Material</a:t>
            </a:r>
            <a:r>
              <a:rPr sz="1100" b="1" spc="65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273138"/>
                </a:solidFill>
                <a:latin typeface="Arial"/>
                <a:cs typeface="Arial"/>
              </a:rPr>
              <a:t>Components:</a:t>
            </a:r>
            <a:r>
              <a:rPr sz="1100" b="1" spc="45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This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is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set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of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widgets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that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mainly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follow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material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design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by</a:t>
            </a:r>
            <a:r>
              <a:rPr sz="1100" spc="5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Google.</a:t>
            </a:r>
            <a:endParaRPr sz="1100">
              <a:latin typeface="Arial MT"/>
              <a:cs typeface="Arial MT"/>
            </a:endParaRPr>
          </a:p>
          <a:p>
            <a:pPr marL="697865" marR="5080" indent="-427355">
              <a:lnSpc>
                <a:spcPct val="159100"/>
              </a:lnSpc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dirty="0">
                <a:solidFill>
                  <a:srgbClr val="273138"/>
                </a:solidFill>
                <a:latin typeface="Arial"/>
                <a:cs typeface="Arial"/>
              </a:rPr>
              <a:t>Painting</a:t>
            </a:r>
            <a:r>
              <a:rPr sz="1100" b="1" spc="14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73138"/>
                </a:solidFill>
                <a:latin typeface="Arial"/>
                <a:cs typeface="Arial"/>
              </a:rPr>
              <a:t>and</a:t>
            </a:r>
            <a:r>
              <a:rPr sz="1100" b="1" spc="14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73138"/>
                </a:solidFill>
                <a:latin typeface="Arial"/>
                <a:cs typeface="Arial"/>
              </a:rPr>
              <a:t>effects:</a:t>
            </a:r>
            <a:r>
              <a:rPr sz="1100" b="1" spc="11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This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is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set</a:t>
            </a:r>
            <a:r>
              <a:rPr sz="1100" spc="12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of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widgets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that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apply</a:t>
            </a:r>
            <a:r>
              <a:rPr sz="1100" spc="12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visual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changes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to</a:t>
            </a:r>
            <a:r>
              <a:rPr sz="1100" spc="12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their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child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widgets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without</a:t>
            </a:r>
            <a:r>
              <a:rPr sz="1100" spc="12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changing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their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layout</a:t>
            </a:r>
            <a:r>
              <a:rPr sz="1100" spc="12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273138"/>
                </a:solidFill>
                <a:latin typeface="Arial MT"/>
                <a:cs typeface="Arial MT"/>
              </a:rPr>
              <a:t>or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shape.</a:t>
            </a:r>
            <a:endParaRPr sz="1100">
              <a:latin typeface="Arial MT"/>
              <a:cs typeface="Arial MT"/>
            </a:endParaRPr>
          </a:p>
          <a:p>
            <a:pPr marL="697865" indent="-427355">
              <a:lnSpc>
                <a:spcPct val="100000"/>
              </a:lnSpc>
              <a:spcBef>
                <a:spcPts val="780"/>
              </a:spcBef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spc="-30" dirty="0">
                <a:solidFill>
                  <a:srgbClr val="273138"/>
                </a:solidFill>
                <a:latin typeface="Arial"/>
                <a:cs typeface="Arial"/>
              </a:rPr>
              <a:t>Scrolling:</a:t>
            </a:r>
            <a:r>
              <a:rPr sz="1100" b="1" spc="35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This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provides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scrollability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of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to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set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of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other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widgets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that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are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not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scrollable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by</a:t>
            </a:r>
            <a:r>
              <a:rPr sz="1100" spc="4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default.</a:t>
            </a:r>
            <a:endParaRPr sz="1100">
              <a:latin typeface="Arial MT"/>
              <a:cs typeface="Arial MT"/>
            </a:endParaRPr>
          </a:p>
          <a:p>
            <a:pPr marL="697865" indent="-427355">
              <a:lnSpc>
                <a:spcPct val="100000"/>
              </a:lnSpc>
              <a:spcBef>
                <a:spcPts val="780"/>
              </a:spcBef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spc="-20" dirty="0">
                <a:solidFill>
                  <a:srgbClr val="273138"/>
                </a:solidFill>
                <a:latin typeface="Arial"/>
                <a:cs typeface="Arial"/>
              </a:rPr>
              <a:t>Styling:</a:t>
            </a:r>
            <a:r>
              <a:rPr sz="1100" b="1" spc="-1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This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deals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273138"/>
                </a:solidFill>
                <a:latin typeface="Arial MT"/>
                <a:cs typeface="Arial MT"/>
              </a:rPr>
              <a:t>with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theme,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 responsiveness,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and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sizing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of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the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273138"/>
                </a:solidFill>
                <a:latin typeface="Arial MT"/>
                <a:cs typeface="Arial MT"/>
              </a:rPr>
              <a:t>app.</a:t>
            </a:r>
            <a:endParaRPr sz="1100">
              <a:latin typeface="Arial MT"/>
              <a:cs typeface="Arial MT"/>
            </a:endParaRPr>
          </a:p>
          <a:p>
            <a:pPr marL="697865" indent="-427355">
              <a:lnSpc>
                <a:spcPct val="100000"/>
              </a:lnSpc>
              <a:spcBef>
                <a:spcPts val="780"/>
              </a:spcBef>
              <a:buFont typeface="Arial MT"/>
              <a:buAutoNum type="arabicPeriod"/>
              <a:tabLst>
                <a:tab pos="697865" algn="l"/>
                <a:tab pos="698500" algn="l"/>
              </a:tabLst>
            </a:pPr>
            <a:r>
              <a:rPr sz="1100" b="1" spc="-30" dirty="0">
                <a:solidFill>
                  <a:srgbClr val="273138"/>
                </a:solidFill>
                <a:latin typeface="Arial"/>
                <a:cs typeface="Arial"/>
              </a:rPr>
              <a:t>Text:</a:t>
            </a:r>
            <a:r>
              <a:rPr sz="1100" b="1" spc="-10" dirty="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This</a:t>
            </a:r>
            <a:r>
              <a:rPr sz="1100" spc="-5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73138"/>
                </a:solidFill>
                <a:latin typeface="Arial MT"/>
                <a:cs typeface="Arial MT"/>
              </a:rPr>
              <a:t>displays</a:t>
            </a:r>
            <a:r>
              <a:rPr sz="1100" spc="-10" dirty="0">
                <a:solidFill>
                  <a:srgbClr val="273138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273138"/>
                </a:solidFill>
                <a:latin typeface="Arial MT"/>
                <a:cs typeface="Arial MT"/>
              </a:rPr>
              <a:t>text.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24212"/>
            <a:ext cx="15303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FF0000"/>
                </a:solidFill>
                <a:latin typeface="Arial"/>
                <a:cs typeface="Arial"/>
              </a:rPr>
              <a:t>Types</a:t>
            </a:r>
            <a:r>
              <a:rPr sz="14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14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Widgets: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7738" y="217416"/>
            <a:ext cx="1736089" cy="65405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381000" algn="l"/>
              </a:tabLst>
            </a:pPr>
            <a:r>
              <a:rPr lang="ar-EG" sz="1300" b="1" spc="-2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.</a:t>
            </a:r>
            <a:r>
              <a:rPr sz="13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1300" b="1" spc="-10" dirty="0">
                <a:solidFill>
                  <a:srgbClr val="0000FF"/>
                </a:solidFill>
                <a:latin typeface="Arial"/>
                <a:cs typeface="Arial"/>
              </a:rPr>
              <a:t>Stateless</a:t>
            </a:r>
            <a:r>
              <a:rPr sz="1300" b="1" spc="-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000FF"/>
                </a:solidFill>
                <a:latin typeface="Arial"/>
                <a:cs typeface="Arial"/>
              </a:rPr>
              <a:t>Widget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  <a:tabLst>
                <a:tab pos="381000" algn="l"/>
              </a:tabLst>
            </a:pP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2.</a:t>
            </a:r>
            <a:r>
              <a:rPr sz="1300" b="1" dirty="0">
                <a:solidFill>
                  <a:srgbClr val="0000FF"/>
                </a:solidFill>
                <a:latin typeface="Arial"/>
                <a:cs typeface="Arial"/>
              </a:rPr>
              <a:t>	Stateful</a:t>
            </a:r>
            <a:r>
              <a:rPr sz="1300" b="1" spc="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000FF"/>
                </a:solidFill>
                <a:latin typeface="Arial"/>
                <a:cs typeface="Arial"/>
              </a:rPr>
              <a:t>Widget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E34E40-B668-3DFD-1F73-54DF13828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81150"/>
            <a:ext cx="6553200" cy="334493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3CC0-C7FD-C9B0-D6A3-B30B05ABA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834" y="57150"/>
            <a:ext cx="8496945" cy="954107"/>
          </a:xfrm>
        </p:spPr>
        <p:txBody>
          <a:bodyPr/>
          <a:lstStyle/>
          <a:p>
            <a:pPr rtl="0"/>
            <a:r>
              <a:rPr lang="en-GB" sz="3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Stateful vs Stateless</a:t>
            </a:r>
            <a:br>
              <a:rPr lang="en-GB" b="1" dirty="0">
                <a:effectLst/>
              </a:rPr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C2B56-C7A9-4485-C576-07F429E43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723" y="1581150"/>
            <a:ext cx="8305165" cy="1169551"/>
          </a:xfrm>
        </p:spPr>
        <p:txBody>
          <a:bodyPr/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“You are developing a Flutter app. One screen displays a static company logo, and another screen displays a counter that updates when a button is pressed. Which widget types will you use and why?”</a:t>
            </a:r>
            <a:endParaRPr lang="en-GB" b="0" dirty="0">
              <a:effectLst/>
            </a:endParaRP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54D32-04AA-852F-6997-988313EB30F9}"/>
              </a:ext>
            </a:extLst>
          </p:cNvPr>
          <p:cNvSpPr txBox="1"/>
          <p:nvPr/>
        </p:nvSpPr>
        <p:spPr>
          <a:xfrm>
            <a:off x="914400" y="3257550"/>
            <a:ext cx="8010526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Answer:</a:t>
            </a:r>
            <a:endParaRPr lang="en-GB" b="0" dirty="0">
              <a:effectLst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StatelessWidget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→ For the company logo since it never changes.</a:t>
            </a: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StatefulWidget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→ For the counter, as it updates when the button is clicked.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05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9074"/>
            <a:ext cx="6347398" cy="40122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899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MaterialApp</a:t>
            </a:r>
            <a:r>
              <a:rPr spc="-254" dirty="0"/>
              <a:t> </a:t>
            </a:r>
            <a:r>
              <a:rPr dirty="0">
                <a:latin typeface="Arial MT"/>
                <a:cs typeface="Arial MT"/>
              </a:rPr>
              <a:t>→</a:t>
            </a:r>
            <a:r>
              <a:rPr spc="-150" dirty="0"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4D5155"/>
                </a:solidFill>
                <a:latin typeface="Arial MT"/>
                <a:cs typeface="Arial MT"/>
              </a:rPr>
              <a:t>widget</a:t>
            </a:r>
            <a:r>
              <a:rPr sz="1850" spc="-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4D5155"/>
                </a:solidFill>
                <a:latin typeface="Arial MT"/>
                <a:cs typeface="Arial MT"/>
              </a:rPr>
              <a:t>that</a:t>
            </a:r>
            <a:r>
              <a:rPr sz="1850" spc="-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4D5155"/>
                </a:solidFill>
                <a:latin typeface="Arial MT"/>
                <a:cs typeface="Arial MT"/>
              </a:rPr>
              <a:t>wraps</a:t>
            </a:r>
            <a:r>
              <a:rPr sz="1850" spc="-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4D5155"/>
                </a:solidFill>
                <a:latin typeface="Arial MT"/>
                <a:cs typeface="Arial MT"/>
              </a:rPr>
              <a:t>a</a:t>
            </a:r>
            <a:r>
              <a:rPr sz="1850" spc="-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4D5155"/>
                </a:solidFill>
                <a:latin typeface="Arial MT"/>
                <a:cs typeface="Arial MT"/>
              </a:rPr>
              <a:t>number of</a:t>
            </a:r>
            <a:r>
              <a:rPr sz="1850" spc="-5" dirty="0">
                <a:solidFill>
                  <a:srgbClr val="4D5155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4D5155"/>
                </a:solidFill>
                <a:latin typeface="Arial MT"/>
                <a:cs typeface="Arial MT"/>
              </a:rPr>
              <a:t>widgets</a:t>
            </a:r>
            <a:endParaRPr sz="18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49810" y="0"/>
            <a:ext cx="2494179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9925"/>
            <a:ext cx="9144000" cy="5013960"/>
            <a:chOff x="0" y="129925"/>
            <a:chExt cx="9144000" cy="50139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9075"/>
              <a:ext cx="6841524" cy="41299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4412" y="129925"/>
              <a:ext cx="2769576" cy="50135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23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Remove</a:t>
            </a:r>
            <a:r>
              <a:rPr spc="-235" dirty="0"/>
              <a:t> </a:t>
            </a:r>
            <a:r>
              <a:rPr spc="-260" dirty="0"/>
              <a:t>the</a:t>
            </a:r>
            <a:r>
              <a:rPr spc="-235" dirty="0"/>
              <a:t> </a:t>
            </a:r>
            <a:r>
              <a:rPr spc="-350" dirty="0"/>
              <a:t>debug</a:t>
            </a:r>
            <a:r>
              <a:rPr spc="-235" dirty="0"/>
              <a:t> </a:t>
            </a:r>
            <a:r>
              <a:rPr spc="-310" dirty="0"/>
              <a:t>Banner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9075"/>
            <a:ext cx="6841524" cy="4129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75" y="-68989"/>
            <a:ext cx="804925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Bool</a:t>
            </a:r>
            <a:r>
              <a:rPr spc="-225" dirty="0"/>
              <a:t> </a:t>
            </a:r>
            <a:r>
              <a:rPr spc="-210" dirty="0"/>
              <a:t>useMaterial3</a:t>
            </a:r>
            <a:r>
              <a:rPr spc="-210" dirty="0">
                <a:latin typeface="Arial MT"/>
                <a:cs typeface="Arial MT"/>
              </a:rPr>
              <a:t>→</a:t>
            </a:r>
            <a:r>
              <a:rPr spc="-120" dirty="0">
                <a:latin typeface="Arial MT"/>
                <a:cs typeface="Arial MT"/>
              </a:rPr>
              <a:t> </a:t>
            </a:r>
            <a:r>
              <a:rPr spc="-310" dirty="0"/>
              <a:t>updated</a:t>
            </a:r>
            <a:r>
              <a:rPr spc="-220" dirty="0"/>
              <a:t> </a:t>
            </a:r>
            <a:r>
              <a:rPr spc="-250" dirty="0"/>
              <a:t>version</a:t>
            </a:r>
            <a:r>
              <a:rPr spc="-225" dirty="0"/>
              <a:t> </a:t>
            </a:r>
            <a:r>
              <a:rPr spc="-285" dirty="0"/>
              <a:t>than</a:t>
            </a:r>
            <a:r>
              <a:rPr spc="-220" dirty="0"/>
              <a:t> </a:t>
            </a:r>
            <a:r>
              <a:rPr spc="-225" dirty="0"/>
              <a:t>material </a:t>
            </a:r>
            <a:r>
              <a:rPr spc="-220" dirty="0"/>
              <a:t>2 </a:t>
            </a:r>
            <a:r>
              <a:rPr spc="-180" dirty="0"/>
              <a:t>with </a:t>
            </a:r>
            <a:r>
              <a:rPr spc="-335" dirty="0"/>
              <a:t>more</a:t>
            </a:r>
            <a:r>
              <a:rPr spc="-235" dirty="0"/>
              <a:t> </a:t>
            </a:r>
            <a:r>
              <a:rPr spc="-220" dirty="0"/>
              <a:t>effects</a:t>
            </a:r>
            <a:r>
              <a:rPr spc="-235" dirty="0"/>
              <a:t> </a:t>
            </a:r>
            <a:r>
              <a:rPr spc="-360" dirty="0"/>
              <a:t>and</a:t>
            </a:r>
            <a:r>
              <a:rPr spc="-235" dirty="0"/>
              <a:t> </a:t>
            </a:r>
            <a:r>
              <a:rPr spc="-25" dirty="0"/>
              <a:t>colors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93175" y="1484954"/>
            <a:ext cx="1534160" cy="1908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2200" b="1" spc="-20" dirty="0">
                <a:solidFill>
                  <a:srgbClr val="424242"/>
                </a:solidFill>
                <a:latin typeface="Courier New"/>
                <a:cs typeface="Courier New"/>
              </a:rPr>
              <a:t>Home </a:t>
            </a:r>
            <a:r>
              <a:rPr sz="2200" b="1" spc="-10" dirty="0">
                <a:solidFill>
                  <a:srgbClr val="424242"/>
                </a:solidFill>
                <a:latin typeface="Courier New"/>
                <a:cs typeface="Courier New"/>
              </a:rPr>
              <a:t>property:</a:t>
            </a:r>
            <a:endParaRPr sz="2200">
              <a:latin typeface="Courier New"/>
              <a:cs typeface="Courier New"/>
            </a:endParaRPr>
          </a:p>
          <a:p>
            <a:pPr marL="12700" marR="13970">
              <a:lnSpc>
                <a:spcPct val="113300"/>
              </a:lnSpc>
              <a:spcBef>
                <a:spcPts val="130"/>
              </a:spcBef>
            </a:pPr>
            <a:r>
              <a:rPr sz="1600" b="1" spc="-10" dirty="0">
                <a:solidFill>
                  <a:srgbClr val="4A4A4A"/>
                </a:solidFill>
                <a:latin typeface="Roboto"/>
                <a:cs typeface="Roboto"/>
              </a:rPr>
              <a:t>displayed</a:t>
            </a:r>
            <a:r>
              <a:rPr sz="1600" b="1" spc="-2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4A4A4A"/>
                </a:solidFill>
                <a:latin typeface="Roboto"/>
                <a:cs typeface="Roboto"/>
              </a:rPr>
              <a:t>first </a:t>
            </a:r>
            <a:r>
              <a:rPr sz="1600" b="1" dirty="0">
                <a:solidFill>
                  <a:srgbClr val="4A4A4A"/>
                </a:solidFill>
                <a:latin typeface="Roboto"/>
                <a:cs typeface="Roboto"/>
              </a:rPr>
              <a:t>when</a:t>
            </a:r>
            <a:r>
              <a:rPr sz="1600" b="1" spc="-30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600" b="1" spc="-25" dirty="0">
                <a:solidFill>
                  <a:srgbClr val="4A4A4A"/>
                </a:solidFill>
                <a:latin typeface="Roboto"/>
                <a:cs typeface="Roboto"/>
              </a:rPr>
              <a:t>the </a:t>
            </a:r>
            <a:r>
              <a:rPr sz="1600" b="1" spc="-10" dirty="0">
                <a:solidFill>
                  <a:srgbClr val="4A4A4A"/>
                </a:solidFill>
                <a:latin typeface="Roboto"/>
                <a:cs typeface="Roboto"/>
              </a:rPr>
              <a:t>application</a:t>
            </a:r>
            <a:r>
              <a:rPr sz="1600" b="1" spc="-15" dirty="0">
                <a:solidFill>
                  <a:srgbClr val="4A4A4A"/>
                </a:solidFill>
                <a:latin typeface="Roboto"/>
                <a:cs typeface="Roboto"/>
              </a:rPr>
              <a:t> </a:t>
            </a:r>
            <a:r>
              <a:rPr sz="1600" b="1" spc="-25" dirty="0">
                <a:solidFill>
                  <a:srgbClr val="4A4A4A"/>
                </a:solidFill>
                <a:latin typeface="Roboto"/>
                <a:cs typeface="Roboto"/>
              </a:rPr>
              <a:t>is </a:t>
            </a:r>
            <a:r>
              <a:rPr sz="1600" b="1" dirty="0">
                <a:solidFill>
                  <a:srgbClr val="4A4A4A"/>
                </a:solidFill>
                <a:latin typeface="Roboto"/>
                <a:cs typeface="Roboto"/>
              </a:rPr>
              <a:t>started</a:t>
            </a:r>
            <a:r>
              <a:rPr sz="1600" b="1" spc="-10" dirty="0">
                <a:solidFill>
                  <a:srgbClr val="4A4A4A"/>
                </a:solidFill>
                <a:latin typeface="Roboto"/>
                <a:cs typeface="Roboto"/>
              </a:rPr>
              <a:t> normally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75" y="801850"/>
            <a:ext cx="7296800" cy="4341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800" y="230985"/>
            <a:ext cx="5149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StatefulWidget</a:t>
            </a:r>
            <a:r>
              <a:rPr spc="-204" dirty="0"/>
              <a:t> </a:t>
            </a:r>
            <a:r>
              <a:rPr spc="-235" dirty="0"/>
              <a:t>related</a:t>
            </a:r>
            <a:r>
              <a:rPr spc="-200" dirty="0"/>
              <a:t> </a:t>
            </a:r>
            <a:r>
              <a:rPr spc="-229" dirty="0"/>
              <a:t>to</a:t>
            </a:r>
            <a:r>
              <a:rPr spc="-200" dirty="0"/>
              <a:t> </a:t>
            </a:r>
            <a:r>
              <a:rPr spc="-225" dirty="0"/>
              <a:t>State</a:t>
            </a:r>
            <a:r>
              <a:rPr spc="-200" dirty="0"/>
              <a:t> </a:t>
            </a:r>
            <a:r>
              <a:rPr spc="-160" dirty="0"/>
              <a:t>Class</a:t>
            </a:r>
          </a:p>
        </p:txBody>
      </p:sp>
      <p:sp>
        <p:nvSpPr>
          <p:cNvPr id="4" name="object 4"/>
          <p:cNvSpPr/>
          <p:nvPr/>
        </p:nvSpPr>
        <p:spPr>
          <a:xfrm>
            <a:off x="7612964" y="352196"/>
            <a:ext cx="1350010" cy="396240"/>
          </a:xfrm>
          <a:custGeom>
            <a:avLst/>
            <a:gdLst/>
            <a:ahLst/>
            <a:cxnLst/>
            <a:rect l="l" t="t" r="r" b="b"/>
            <a:pathLst>
              <a:path w="1350009" h="396240">
                <a:moveTo>
                  <a:pt x="1349616" y="0"/>
                </a:moveTo>
                <a:lnTo>
                  <a:pt x="0" y="0"/>
                </a:lnTo>
                <a:lnTo>
                  <a:pt x="0" y="198120"/>
                </a:lnTo>
                <a:lnTo>
                  <a:pt x="0" y="396240"/>
                </a:lnTo>
                <a:lnTo>
                  <a:pt x="1338059" y="396240"/>
                </a:lnTo>
                <a:lnTo>
                  <a:pt x="1338059" y="198120"/>
                </a:lnTo>
                <a:lnTo>
                  <a:pt x="1349616" y="198120"/>
                </a:lnTo>
                <a:lnTo>
                  <a:pt x="13496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00274" y="134770"/>
            <a:ext cx="137604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fat</a:t>
            </a:r>
            <a:r>
              <a:rPr sz="1300" spc="9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arrow</a:t>
            </a:r>
            <a:r>
              <a:rPr sz="1300" spc="9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0000FF"/>
                </a:solidFill>
                <a:latin typeface="Arial MT"/>
                <a:cs typeface="Arial MT"/>
              </a:rPr>
              <a:t>notation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(</a:t>
            </a:r>
            <a:r>
              <a:rPr sz="13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=&gt;</a:t>
            </a:r>
            <a:r>
              <a:rPr sz="13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).</a:t>
            </a:r>
            <a:r>
              <a:rPr sz="1300" spc="3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spc="75" dirty="0">
                <a:solidFill>
                  <a:srgbClr val="0000FF"/>
                </a:solidFill>
                <a:latin typeface="Arial MT"/>
                <a:cs typeface="Arial MT"/>
              </a:rPr>
              <a:t>A</a:t>
            </a:r>
            <a:r>
              <a:rPr sz="13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fat</a:t>
            </a:r>
            <a:r>
              <a:rPr sz="13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0000FF"/>
                </a:solidFill>
                <a:latin typeface="Arial MT"/>
                <a:cs typeface="Arial MT"/>
              </a:rPr>
              <a:t>arrow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is</a:t>
            </a:r>
            <a:r>
              <a:rPr sz="13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used</a:t>
            </a:r>
            <a:r>
              <a:rPr sz="13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to</a:t>
            </a:r>
            <a:r>
              <a:rPr sz="13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define</a:t>
            </a:r>
            <a:r>
              <a:rPr sz="13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0000FF"/>
                </a:solidFill>
                <a:latin typeface="Arial MT"/>
                <a:cs typeface="Arial MT"/>
              </a:rPr>
              <a:t>a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2964" y="748436"/>
            <a:ext cx="1373505" cy="1188720"/>
          </a:xfrm>
          <a:custGeom>
            <a:avLst/>
            <a:gdLst/>
            <a:ahLst/>
            <a:cxnLst/>
            <a:rect l="l" t="t" r="r" b="b"/>
            <a:pathLst>
              <a:path w="1373504" h="1188720">
                <a:moveTo>
                  <a:pt x="1373212" y="396240"/>
                </a:moveTo>
                <a:lnTo>
                  <a:pt x="1300264" y="396240"/>
                </a:lnTo>
                <a:lnTo>
                  <a:pt x="1300264" y="198120"/>
                </a:lnTo>
                <a:lnTo>
                  <a:pt x="1285074" y="198120"/>
                </a:lnTo>
                <a:lnTo>
                  <a:pt x="1285074" y="0"/>
                </a:lnTo>
                <a:lnTo>
                  <a:pt x="0" y="0"/>
                </a:lnTo>
                <a:lnTo>
                  <a:pt x="0" y="198120"/>
                </a:lnTo>
                <a:lnTo>
                  <a:pt x="0" y="396240"/>
                </a:lnTo>
                <a:lnTo>
                  <a:pt x="0" y="594360"/>
                </a:lnTo>
                <a:lnTo>
                  <a:pt x="0" y="792480"/>
                </a:lnTo>
                <a:lnTo>
                  <a:pt x="0" y="990600"/>
                </a:lnTo>
                <a:lnTo>
                  <a:pt x="0" y="1188720"/>
                </a:lnTo>
                <a:lnTo>
                  <a:pt x="789101" y="1188720"/>
                </a:lnTo>
                <a:lnTo>
                  <a:pt x="789101" y="990600"/>
                </a:lnTo>
                <a:lnTo>
                  <a:pt x="946226" y="990600"/>
                </a:lnTo>
                <a:lnTo>
                  <a:pt x="946226" y="792480"/>
                </a:lnTo>
                <a:lnTo>
                  <a:pt x="1103198" y="792480"/>
                </a:lnTo>
                <a:lnTo>
                  <a:pt x="1103198" y="594360"/>
                </a:lnTo>
                <a:lnTo>
                  <a:pt x="1373212" y="594360"/>
                </a:lnTo>
                <a:lnTo>
                  <a:pt x="1373212" y="3962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00274" y="729131"/>
            <a:ext cx="1534160" cy="4180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9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single</a:t>
            </a:r>
            <a:r>
              <a:rPr sz="1300" spc="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0000FF"/>
                </a:solidFill>
                <a:latin typeface="Arial MT"/>
                <a:cs typeface="Arial MT"/>
              </a:rPr>
              <a:t>expression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in</a:t>
            </a:r>
            <a:r>
              <a:rPr sz="130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a</a:t>
            </a:r>
            <a:r>
              <a:rPr sz="13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function.</a:t>
            </a:r>
            <a:r>
              <a:rPr sz="130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0000FF"/>
                </a:solidFill>
                <a:latin typeface="Arial MT"/>
                <a:cs typeface="Arial MT"/>
              </a:rPr>
              <a:t>This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is</a:t>
            </a:r>
            <a:r>
              <a:rPr sz="1300" spc="-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a</a:t>
            </a:r>
            <a:r>
              <a:rPr sz="13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cleaner</a:t>
            </a:r>
            <a:r>
              <a:rPr sz="13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way</a:t>
            </a:r>
            <a:r>
              <a:rPr sz="1300" spc="-25" dirty="0">
                <a:solidFill>
                  <a:srgbClr val="0000FF"/>
                </a:solidFill>
                <a:latin typeface="Arial MT"/>
                <a:cs typeface="Arial MT"/>
              </a:rPr>
              <a:t> to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write</a:t>
            </a:r>
            <a:r>
              <a:rPr sz="1300" spc="20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0000FF"/>
                </a:solidFill>
                <a:latin typeface="Arial MT"/>
                <a:cs typeface="Arial MT"/>
              </a:rPr>
              <a:t>functions </a:t>
            </a:r>
            <a:r>
              <a:rPr sz="1300" spc="65" dirty="0">
                <a:solidFill>
                  <a:srgbClr val="0000FF"/>
                </a:solidFill>
                <a:latin typeface="Arial MT"/>
                <a:cs typeface="Arial MT"/>
              </a:rPr>
              <a:t>with</a:t>
            </a:r>
            <a:r>
              <a:rPr sz="1300" spc="-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00FF"/>
                </a:solidFill>
                <a:latin typeface="Arial MT"/>
                <a:cs typeface="Arial MT"/>
              </a:rPr>
              <a:t>a</a:t>
            </a:r>
            <a:r>
              <a:rPr sz="1300" spc="-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0000FF"/>
                </a:solidFill>
                <a:latin typeface="Arial MT"/>
                <a:cs typeface="Arial MT"/>
              </a:rPr>
              <a:t>single statement.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Arial MT"/>
              <a:cs typeface="Arial MT"/>
            </a:endParaRPr>
          </a:p>
          <a:p>
            <a:pPr marL="12700" marR="767080" algn="just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_</a:t>
            </a:r>
            <a:r>
              <a:rPr sz="14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urier New"/>
                <a:cs typeface="Courier New"/>
              </a:rPr>
              <a:t>means private member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14599"/>
              </a:lnSpc>
              <a:spcBef>
                <a:spcPts val="1070"/>
              </a:spcBef>
            </a:pP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Each</a:t>
            </a:r>
            <a:r>
              <a:rPr sz="1800" spc="-5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424242"/>
                </a:solidFill>
                <a:latin typeface="Courier New"/>
                <a:cs typeface="Courier New"/>
              </a:rPr>
              <a:t>time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setState</a:t>
            </a:r>
            <a:r>
              <a:rPr sz="1800" spc="-9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424242"/>
                </a:solidFill>
                <a:latin typeface="Courier New"/>
                <a:cs typeface="Courier New"/>
              </a:rPr>
              <a:t>is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called,</a:t>
            </a:r>
            <a:r>
              <a:rPr sz="1800" spc="-8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424242"/>
                </a:solidFill>
                <a:latin typeface="Courier New"/>
                <a:cs typeface="Courier New"/>
              </a:rPr>
              <a:t>the </a:t>
            </a:r>
            <a:r>
              <a:rPr sz="1800" spc="-10" dirty="0">
                <a:solidFill>
                  <a:srgbClr val="424242"/>
                </a:solidFill>
                <a:latin typeface="Courier New"/>
                <a:cs typeface="Courier New"/>
              </a:rPr>
              <a:t>build </a:t>
            </a:r>
            <a:r>
              <a:rPr sz="1800" dirty="0">
                <a:solidFill>
                  <a:srgbClr val="424242"/>
                </a:solidFill>
                <a:latin typeface="Courier New"/>
                <a:cs typeface="Courier New"/>
              </a:rPr>
              <a:t>function</a:t>
            </a:r>
            <a:r>
              <a:rPr sz="1800" spc="-9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424242"/>
                </a:solidFill>
                <a:latin typeface="Courier New"/>
                <a:cs typeface="Courier New"/>
              </a:rPr>
              <a:t>is </a:t>
            </a:r>
            <a:r>
              <a:rPr sz="1800" spc="-20" dirty="0">
                <a:solidFill>
                  <a:srgbClr val="424242"/>
                </a:solidFill>
                <a:latin typeface="Courier New"/>
                <a:cs typeface="Courier New"/>
              </a:rPr>
              <a:t>re-</a:t>
            </a:r>
            <a:r>
              <a:rPr sz="1800" spc="-10" dirty="0">
                <a:solidFill>
                  <a:srgbClr val="424242"/>
                </a:solidFill>
                <a:latin typeface="Courier New"/>
                <a:cs typeface="Courier New"/>
              </a:rPr>
              <a:t>excuted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51"/>
            <a:ext cx="7070920" cy="51434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3B61E8-54D4-44FC-CE87-9A5B6F553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71955"/>
            <a:ext cx="2400508" cy="50143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9200" y="1266725"/>
            <a:ext cx="614680" cy="0"/>
          </a:xfrm>
          <a:custGeom>
            <a:avLst/>
            <a:gdLst/>
            <a:ahLst/>
            <a:cxnLst/>
            <a:rect l="l" t="t" r="r" b="b"/>
            <a:pathLst>
              <a:path w="614680">
                <a:moveTo>
                  <a:pt x="0" y="0"/>
                </a:moveTo>
                <a:lnTo>
                  <a:pt x="614099" y="0"/>
                </a:lnTo>
              </a:path>
            </a:pathLst>
          </a:custGeom>
          <a:ln w="3175">
            <a:solidFill>
              <a:srgbClr val="4242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682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00"/>
              </a:spcBef>
            </a:pPr>
            <a:r>
              <a:rPr spc="-225" dirty="0"/>
              <a:t>Scaffold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3575" y="320925"/>
            <a:ext cx="2170049" cy="26238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4725" y="1209868"/>
            <a:ext cx="5551805" cy="27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69185">
              <a:lnSpc>
                <a:spcPct val="113999"/>
              </a:lnSpc>
              <a:spcBef>
                <a:spcPts val="100"/>
              </a:spcBef>
            </a:pP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Scaffold</a:t>
            </a:r>
            <a:r>
              <a:rPr sz="1700" spc="-35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is</a:t>
            </a:r>
            <a:r>
              <a:rPr sz="1700" spc="-15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a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class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in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flutter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which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provides</a:t>
            </a:r>
            <a:r>
              <a:rPr sz="1700" spc="-25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many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widgets</a:t>
            </a:r>
            <a:endParaRPr sz="1700" dirty="0">
              <a:latin typeface="Arial MT"/>
              <a:cs typeface="Arial MT"/>
            </a:endParaRPr>
          </a:p>
          <a:p>
            <a:pPr marL="12700" marR="2725420" indent="47625">
              <a:lnSpc>
                <a:spcPct val="113999"/>
              </a:lnSpc>
              <a:spcBef>
                <a:spcPts val="1645"/>
              </a:spcBef>
            </a:pP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APIs</a:t>
            </a:r>
            <a:r>
              <a:rPr sz="1700" spc="-25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like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Drawer,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Snack-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Bar, </a:t>
            </a:r>
            <a:r>
              <a:rPr sz="1700" spc="-1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Bottom-Navigation-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Bar,</a:t>
            </a:r>
            <a:endParaRPr sz="17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700" spc="-1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Floating-Action-Button,</a:t>
            </a:r>
            <a:r>
              <a:rPr sz="1700" spc="45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App-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Bar,</a:t>
            </a:r>
            <a:endParaRPr sz="1700" dirty="0">
              <a:latin typeface="Arial MT"/>
              <a:cs typeface="Arial MT"/>
            </a:endParaRPr>
          </a:p>
          <a:p>
            <a:pPr marL="12700" marR="1585595" algn="just">
              <a:lnSpc>
                <a:spcPct val="113999"/>
              </a:lnSpc>
              <a:spcBef>
                <a:spcPts val="1650"/>
              </a:spcBef>
            </a:pP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Scaffold</a:t>
            </a:r>
            <a:r>
              <a:rPr sz="1700" spc="-3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will</a:t>
            </a:r>
            <a:r>
              <a:rPr sz="1700" spc="-25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expand</a:t>
            </a:r>
            <a:r>
              <a:rPr sz="1700" spc="-3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or</a:t>
            </a:r>
            <a:r>
              <a:rPr sz="1700" spc="-25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occupy</a:t>
            </a:r>
            <a:r>
              <a:rPr sz="1700" spc="-3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the</a:t>
            </a:r>
            <a:r>
              <a:rPr sz="1700" spc="-25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whole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device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screen.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It</a:t>
            </a:r>
            <a:r>
              <a:rPr sz="1700" spc="-15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will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occupy</a:t>
            </a:r>
            <a:r>
              <a:rPr sz="1700" spc="-2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the</a:t>
            </a:r>
            <a:r>
              <a:rPr sz="1700" spc="-15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Arial MT"/>
                <a:cs typeface="Arial MT"/>
                <a:hlinkClick r:id="rId3"/>
              </a:rPr>
              <a:t>available space.</a:t>
            </a:r>
            <a:endParaRPr sz="170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14674" y="2339475"/>
            <a:ext cx="1975574" cy="244446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E10F4-33F4-82B6-9A41-30840DF7D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45" y="209550"/>
            <a:ext cx="8496945" cy="461665"/>
          </a:xfrm>
        </p:spPr>
        <p:txBody>
          <a:bodyPr/>
          <a:lstStyle/>
          <a:p>
            <a:r>
              <a:rPr lang="en-GB" dirty="0" err="1"/>
              <a:t>Snackbar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1193A-000D-2757-C8BC-A99177E12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725" y="1136729"/>
            <a:ext cx="8305165" cy="553998"/>
          </a:xfrm>
        </p:spPr>
        <p:txBody>
          <a:bodyPr/>
          <a:lstStyle/>
          <a:p>
            <a:endParaRPr lang="en-GB" u="sng" spc="-10" dirty="0">
              <a:solidFill>
                <a:schemeClr val="tx1"/>
              </a:solidFill>
              <a:uFill>
                <a:solidFill>
                  <a:srgbClr val="01AED1"/>
                </a:solidFill>
              </a:uFill>
              <a:latin typeface="Courier New"/>
              <a:cs typeface="Courier New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GB" sz="1200" u="heavy" spc="-10" dirty="0">
              <a:solidFill>
                <a:srgbClr val="0000FF"/>
              </a:solidFill>
              <a:uFill>
                <a:solidFill>
                  <a:srgbClr val="01AED1"/>
                </a:solidFill>
              </a:uFill>
              <a:latin typeface="Courier New"/>
              <a:cs typeface="Courier New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GB" sz="1200" u="heavy" spc="-10" dirty="0">
                <a:solidFill>
                  <a:srgbClr val="0000FF"/>
                </a:solidFill>
                <a:uFill>
                  <a:solidFill>
                    <a:srgbClr val="01AED1"/>
                  </a:solidFill>
                </a:uFill>
                <a:latin typeface="Courier New"/>
                <a:cs typeface="Courier Ne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https://docs.flutter.dev/cookbook/design/snackbars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877CF-895A-B22B-4BD0-76451433CCC5}"/>
              </a:ext>
            </a:extLst>
          </p:cNvPr>
          <p:cNvSpPr txBox="1"/>
          <p:nvPr/>
        </p:nvSpPr>
        <p:spPr>
          <a:xfrm>
            <a:off x="1066800" y="95206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Explore the following 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3680C-D77F-3E13-A79C-AE243056FE84}"/>
              </a:ext>
            </a:extLst>
          </p:cNvPr>
          <p:cNvSpPr txBox="1"/>
          <p:nvPr/>
        </p:nvSpPr>
        <p:spPr>
          <a:xfrm>
            <a:off x="1066800" y="2156241"/>
            <a:ext cx="4360489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Solve Exercise </a:t>
            </a:r>
            <a:r>
              <a:rPr lang="en-GB" dirty="0" err="1"/>
              <a:t>Snackbars</a:t>
            </a:r>
            <a:r>
              <a:rPr lang="en-GB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Open New flutter project,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Copy the </a:t>
            </a:r>
            <a:r>
              <a:rPr lang="en-GB" sz="1400" dirty="0" err="1"/>
              <a:t>snackbar</a:t>
            </a:r>
            <a:r>
              <a:rPr lang="en-GB" sz="1400" dirty="0"/>
              <a:t> code in an empty project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Run the code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Change the duration of the </a:t>
            </a:r>
            <a:r>
              <a:rPr lang="en-GB" sz="1400" dirty="0" err="1"/>
              <a:t>snackbar</a:t>
            </a:r>
            <a:r>
              <a:rPr lang="en-GB" sz="1400" dirty="0"/>
              <a:t> appearance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Change the displayed 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Remove the debug mode 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Upload the screenshot of the output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Be ready for discussion with </a:t>
            </a:r>
            <a:r>
              <a:rPr lang="en-GB" sz="1400" dirty="0" err="1"/>
              <a:t>dr</a:t>
            </a:r>
            <a:r>
              <a:rPr lang="en-GB" sz="1400" dirty="0"/>
              <a:t> Taraggy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9158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AD47-67B5-39BB-6737-BABD29532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55" y="57150"/>
            <a:ext cx="8496945" cy="461665"/>
          </a:xfrm>
        </p:spPr>
        <p:txBody>
          <a:bodyPr/>
          <a:lstStyle/>
          <a:p>
            <a:r>
              <a:rPr lang="en-GB" dirty="0"/>
              <a:t>Drawer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FB122-17B8-9AD5-CF35-834D76976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020" y="1569977"/>
            <a:ext cx="8305165" cy="369332"/>
          </a:xfrm>
        </p:spPr>
        <p:txBody>
          <a:bodyPr/>
          <a:lstStyle/>
          <a:p>
            <a:r>
              <a:rPr lang="en-GB" sz="1200" u="heavy" spc="-10" dirty="0">
                <a:solidFill>
                  <a:srgbClr val="01AED1"/>
                </a:solidFill>
                <a:uFill>
                  <a:solidFill>
                    <a:srgbClr val="01AED1"/>
                  </a:solidFill>
                </a:uFill>
                <a:latin typeface="Courier New"/>
                <a:cs typeface="Courier New"/>
                <a:hlinkClick r:id="rId2"/>
              </a:rPr>
              <a:t>https://docs.flutter.dev/cookbook/design/drawer</a:t>
            </a:r>
            <a:endParaRPr lang="en-GB" sz="1200" dirty="0">
              <a:latin typeface="Courier New"/>
              <a:cs typeface="Courier New"/>
            </a:endParaRP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70D7C-1233-A94F-9E02-99EA619119F0}"/>
              </a:ext>
            </a:extLst>
          </p:cNvPr>
          <p:cNvSpPr txBox="1"/>
          <p:nvPr/>
        </p:nvSpPr>
        <p:spPr>
          <a:xfrm>
            <a:off x="1066800" y="95206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Explore the following link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1B730-DA8F-91FD-49D4-901EFDB487C0}"/>
              </a:ext>
            </a:extLst>
          </p:cNvPr>
          <p:cNvSpPr txBox="1"/>
          <p:nvPr/>
        </p:nvSpPr>
        <p:spPr>
          <a:xfrm>
            <a:off x="838200" y="3019526"/>
            <a:ext cx="45720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Solve Exercise Drawer on Moodle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Open new empty flutter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Copy the sample code from the link https://docs.flutter.dev/cookbook/design/drawer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Add items to the list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Change the </a:t>
            </a:r>
            <a:r>
              <a:rPr lang="en-GB" sz="1400" dirty="0" err="1"/>
              <a:t>Colors</a:t>
            </a:r>
            <a:r>
              <a:rPr lang="en-GB" sz="1400" dirty="0"/>
              <a:t> and Font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Upload the screenshot of your modified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Be ready for discussion with </a:t>
            </a:r>
            <a:r>
              <a:rPr lang="en-GB" sz="1400" dirty="0" err="1"/>
              <a:t>dr</a:t>
            </a:r>
            <a:r>
              <a:rPr lang="en-GB" sz="1400" dirty="0"/>
              <a:t> Taraggy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4F226-76FB-87DB-0EB7-ED28C4E3DD88}"/>
              </a:ext>
            </a:extLst>
          </p:cNvPr>
          <p:cNvSpPr txBox="1"/>
          <p:nvPr/>
        </p:nvSpPr>
        <p:spPr>
          <a:xfrm>
            <a:off x="5562600" y="952063"/>
            <a:ext cx="208262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Note the following: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TextStyle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IconButton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ListView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ListTile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Navigator.pop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284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39EDD-2E7A-3E77-08CF-9E83A9E02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49" y="-68989"/>
            <a:ext cx="8496945" cy="461665"/>
          </a:xfrm>
        </p:spPr>
        <p:txBody>
          <a:bodyPr/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Simple Exercise (Fill in the blanks)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3A4D6-7A2D-8DBB-7B5F-10FF13890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190750"/>
            <a:ext cx="8305165" cy="1938992"/>
          </a:xfrm>
        </p:spPr>
        <p:txBody>
          <a:bodyPr/>
          <a:lstStyle/>
          <a:p>
            <a:r>
              <a:rPr lang="en-GB" sz="1800" dirty="0"/>
              <a:t>class </a:t>
            </a:r>
            <a:r>
              <a:rPr lang="en-GB" sz="1800" dirty="0" err="1"/>
              <a:t>MyStatelessWidget</a:t>
            </a:r>
            <a:r>
              <a:rPr lang="en-GB" sz="1800" dirty="0"/>
              <a:t> extends </a:t>
            </a:r>
            <a:r>
              <a:rPr lang="en-GB" sz="1800" dirty="0" err="1"/>
              <a:t>StatelessWidget</a:t>
            </a:r>
            <a:r>
              <a:rPr lang="en-GB" sz="1800" dirty="0"/>
              <a:t> {</a:t>
            </a:r>
          </a:p>
          <a:p>
            <a:r>
              <a:rPr lang="en-GB" sz="1800" dirty="0"/>
              <a:t>  @override</a:t>
            </a:r>
          </a:p>
          <a:p>
            <a:r>
              <a:rPr lang="en-GB" sz="1800" dirty="0"/>
              <a:t>  Widget ____________(</a:t>
            </a:r>
            <a:r>
              <a:rPr lang="en-GB" sz="1800" dirty="0" err="1"/>
              <a:t>BuildContext</a:t>
            </a:r>
            <a:r>
              <a:rPr lang="en-GB" sz="1800" dirty="0"/>
              <a:t> context) {</a:t>
            </a:r>
          </a:p>
          <a:p>
            <a:r>
              <a:rPr lang="en-GB" sz="1800" dirty="0"/>
              <a:t>    return Text('I am a Stateless Widget');</a:t>
            </a:r>
          </a:p>
          <a:p>
            <a:r>
              <a:rPr lang="en-GB" sz="1800" dirty="0"/>
              <a:t>  }</a:t>
            </a:r>
          </a:p>
          <a:p>
            <a:r>
              <a:rPr lang="en-GB" sz="1800" dirty="0"/>
              <a:t>}</a:t>
            </a:r>
          </a:p>
          <a:p>
            <a:endParaRPr lang="en-GB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62219-7800-5DF5-C254-896CD1040E52}"/>
              </a:ext>
            </a:extLst>
          </p:cNvPr>
          <p:cNvSpPr txBox="1"/>
          <p:nvPr/>
        </p:nvSpPr>
        <p:spPr>
          <a:xfrm>
            <a:off x="2286000" y="2647950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</a:rPr>
              <a:t>build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3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D60A4-9BAB-DCA3-F337-F3A0CAAB7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14350"/>
            <a:ext cx="8305165" cy="4801314"/>
          </a:xfrm>
        </p:spPr>
        <p:txBody>
          <a:bodyPr/>
          <a:lstStyle/>
          <a:p>
            <a:r>
              <a:rPr lang="en-GB" dirty="0"/>
              <a:t>class </a:t>
            </a:r>
            <a:r>
              <a:rPr lang="en-GB" dirty="0" err="1"/>
              <a:t>MyStatefulWidget</a:t>
            </a:r>
            <a:r>
              <a:rPr lang="en-GB" dirty="0"/>
              <a:t> extends </a:t>
            </a:r>
            <a:r>
              <a:rPr lang="en-GB" dirty="0" err="1"/>
              <a:t>StatefulWidget</a:t>
            </a:r>
            <a:r>
              <a:rPr lang="en-GB" dirty="0"/>
              <a:t>{</a:t>
            </a:r>
          </a:p>
          <a:p>
            <a:r>
              <a:rPr lang="en-GB" dirty="0"/>
              <a:t>  @override</a:t>
            </a:r>
          </a:p>
          <a:p>
            <a:r>
              <a:rPr lang="en-GB" dirty="0"/>
              <a:t>State&lt;</a:t>
            </a:r>
            <a:r>
              <a:rPr lang="en-GB" dirty="0" err="1"/>
              <a:t>MyStatefulWidget</a:t>
            </a:r>
            <a:r>
              <a:rPr lang="en-GB" dirty="0"/>
              <a:t>&gt; </a:t>
            </a:r>
            <a:r>
              <a:rPr lang="en-GB" dirty="0" err="1"/>
              <a:t>createState</a:t>
            </a:r>
            <a:r>
              <a:rPr lang="en-GB" dirty="0"/>
              <a:t>() =&gt;_______________________________;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class _</a:t>
            </a:r>
            <a:r>
              <a:rPr lang="en-GB" dirty="0" err="1"/>
              <a:t>MyStatefulWidgetState</a:t>
            </a:r>
            <a:r>
              <a:rPr lang="en-GB" dirty="0"/>
              <a:t>() extends _____________________________          {</a:t>
            </a:r>
          </a:p>
          <a:p>
            <a:r>
              <a:rPr lang="en-GB" dirty="0"/>
              <a:t>  int counter = 0;</a:t>
            </a:r>
          </a:p>
          <a:p>
            <a:endParaRPr lang="en-GB" dirty="0"/>
          </a:p>
          <a:p>
            <a:r>
              <a:rPr lang="en-GB" dirty="0"/>
              <a:t>  @override</a:t>
            </a:r>
          </a:p>
          <a:p>
            <a:r>
              <a:rPr lang="en-GB" dirty="0"/>
              <a:t>  Widget build (</a:t>
            </a:r>
            <a:r>
              <a:rPr lang="en-GB" dirty="0" err="1"/>
              <a:t>BuildContext</a:t>
            </a:r>
            <a:r>
              <a:rPr lang="en-GB" dirty="0"/>
              <a:t> context) {</a:t>
            </a:r>
          </a:p>
          <a:p>
            <a:r>
              <a:rPr lang="en-GB" dirty="0"/>
              <a:t>    return Column(</a:t>
            </a:r>
          </a:p>
          <a:p>
            <a:r>
              <a:rPr lang="en-GB" dirty="0"/>
              <a:t>       _________________________: [</a:t>
            </a:r>
          </a:p>
          <a:p>
            <a:r>
              <a:rPr lang="en-GB" dirty="0"/>
              <a:t>        Text('Counter: $counter'),</a:t>
            </a:r>
          </a:p>
          <a:p>
            <a:r>
              <a:rPr lang="en-GB" dirty="0"/>
              <a:t>        </a:t>
            </a:r>
            <a:r>
              <a:rPr lang="en-GB" dirty="0" err="1"/>
              <a:t>ElevatedButton</a:t>
            </a:r>
            <a:r>
              <a:rPr lang="en-GB" dirty="0"/>
              <a:t>(</a:t>
            </a:r>
          </a:p>
          <a:p>
            <a:r>
              <a:rPr lang="en-GB" dirty="0"/>
              <a:t>        ____________________: () {</a:t>
            </a:r>
          </a:p>
          <a:p>
            <a:r>
              <a:rPr lang="en-GB" dirty="0"/>
              <a:t>            </a:t>
            </a:r>
            <a:r>
              <a:rPr lang="en-GB" dirty="0" err="1"/>
              <a:t>setstate</a:t>
            </a:r>
            <a:r>
              <a:rPr lang="en-GB" dirty="0"/>
              <a:t>(() {</a:t>
            </a:r>
          </a:p>
          <a:p>
            <a:r>
              <a:rPr lang="en-GB" dirty="0"/>
              <a:t>              counter++;</a:t>
            </a:r>
          </a:p>
          <a:p>
            <a:r>
              <a:rPr lang="en-GB" dirty="0"/>
              <a:t>            });</a:t>
            </a:r>
          </a:p>
          <a:p>
            <a:r>
              <a:rPr lang="en-GB" dirty="0"/>
              <a:t>          },</a:t>
            </a:r>
          </a:p>
          <a:p>
            <a:r>
              <a:rPr lang="en-GB" dirty="0"/>
              <a:t>          child: Text('Increment'),</a:t>
            </a:r>
          </a:p>
          <a:p>
            <a:r>
              <a:rPr lang="en-GB" dirty="0"/>
              <a:t>        ),</a:t>
            </a:r>
          </a:p>
          <a:p>
            <a:r>
              <a:rPr lang="en-GB" dirty="0"/>
              <a:t>      ],</a:t>
            </a:r>
          </a:p>
          <a:p>
            <a:r>
              <a:rPr lang="en-GB" dirty="0"/>
              <a:t>    );</a:t>
            </a:r>
          </a:p>
          <a:p>
            <a:r>
              <a:rPr lang="en-GB" dirty="0"/>
              <a:t>  }</a:t>
            </a:r>
          </a:p>
          <a:p>
            <a:r>
              <a:rPr lang="en-GB" dirty="0"/>
              <a:t>}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23FB1-45D1-DA95-95E7-1C3614D23602}"/>
              </a:ext>
            </a:extLst>
          </p:cNvPr>
          <p:cNvSpPr txBox="1"/>
          <p:nvPr/>
        </p:nvSpPr>
        <p:spPr>
          <a:xfrm>
            <a:off x="152400" y="98614"/>
            <a:ext cx="4763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Simple Exercise (Fill in the blanks)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DCF34D-9C62-8EF3-FFDB-3DA8FB5D774C}"/>
              </a:ext>
            </a:extLst>
          </p:cNvPr>
          <p:cNvSpPr txBox="1"/>
          <p:nvPr/>
        </p:nvSpPr>
        <p:spPr>
          <a:xfrm>
            <a:off x="4038600" y="742950"/>
            <a:ext cx="2340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</a:rPr>
              <a:t>_</a:t>
            </a:r>
            <a:r>
              <a:rPr lang="en-GB" sz="1400" b="1" dirty="0" err="1">
                <a:solidFill>
                  <a:srgbClr val="FF0000"/>
                </a:solidFill>
              </a:rPr>
              <a:t>MyStatefulWidgetState</a:t>
            </a:r>
            <a:r>
              <a:rPr lang="en-GB" sz="1400" b="1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BCEF0-E1FF-F1F7-A16B-6D7FE00B2D81}"/>
              </a:ext>
            </a:extLst>
          </p:cNvPr>
          <p:cNvSpPr txBox="1"/>
          <p:nvPr/>
        </p:nvSpPr>
        <p:spPr>
          <a:xfrm>
            <a:off x="3971398" y="1200150"/>
            <a:ext cx="2331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</a:rPr>
              <a:t>State&lt;</a:t>
            </a:r>
            <a:r>
              <a:rPr lang="en-GB" sz="1400" b="1" dirty="0" err="1">
                <a:solidFill>
                  <a:srgbClr val="FF0000"/>
                </a:solidFill>
              </a:rPr>
              <a:t>MyStatefulWidget</a:t>
            </a:r>
            <a:r>
              <a:rPr lang="en-GB" sz="1400" b="1" dirty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467BAF-4DE4-42DD-0CF1-544EA654F6F4}"/>
              </a:ext>
            </a:extLst>
          </p:cNvPr>
          <p:cNvSpPr txBox="1"/>
          <p:nvPr/>
        </p:nvSpPr>
        <p:spPr>
          <a:xfrm>
            <a:off x="1828800" y="2417861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</a:rPr>
              <a:t>children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0A92C-3202-B977-19D3-0B6F417F7D67}"/>
              </a:ext>
            </a:extLst>
          </p:cNvPr>
          <p:cNvSpPr txBox="1"/>
          <p:nvPr/>
        </p:nvSpPr>
        <p:spPr>
          <a:xfrm>
            <a:off x="1609188" y="2940562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 err="1">
                <a:solidFill>
                  <a:srgbClr val="FF0000"/>
                </a:solidFill>
              </a:rPr>
              <a:t>onPressed</a:t>
            </a:r>
            <a:endParaRPr lang="en-GB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16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B22B8-AE8D-2752-CD52-165EB6102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49" y="-68989"/>
            <a:ext cx="4427949" cy="1446550"/>
          </a:xfrm>
        </p:spPr>
        <p:txBody>
          <a:bodyPr/>
          <a:lstStyle/>
          <a:p>
            <a:pPr rtl="0"/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Given the following code using a </a:t>
            </a:r>
            <a:r>
              <a:rPr lang="en-GB" sz="3200" b="0" i="0" u="none" strike="noStrike" dirty="0">
                <a:solidFill>
                  <a:srgbClr val="188038"/>
                </a:solidFill>
                <a:effectLst/>
                <a:latin typeface="Roboto Mono" panose="00000009000000000000" pitchFamily="49" charset="0"/>
              </a:rPr>
              <a:t>Column</a:t>
            </a:r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widget:</a:t>
            </a:r>
            <a:br>
              <a:rPr lang="en-GB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AABDD-1942-BBD8-A035-B90648236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587" y="1809750"/>
            <a:ext cx="3730075" cy="2693045"/>
          </a:xfrm>
        </p:spPr>
        <p:txBody>
          <a:bodyPr/>
          <a:lstStyle/>
          <a:p>
            <a:pPr rtl="0"/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Column(</a:t>
            </a:r>
            <a:endParaRPr lang="en-GB" b="0" dirty="0">
              <a:effectLst/>
            </a:endParaRPr>
          </a:p>
          <a:p>
            <a:pPr rtl="0"/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children: [</a:t>
            </a:r>
            <a:endParaRPr lang="en-GB" b="0" dirty="0">
              <a:effectLst/>
            </a:endParaRPr>
          </a:p>
          <a:p>
            <a:pPr rtl="0"/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Text("Item 1"),</a:t>
            </a:r>
            <a:endParaRPr lang="en-GB" b="0" dirty="0">
              <a:effectLst/>
            </a:endParaRPr>
          </a:p>
          <a:p>
            <a:pPr rtl="0"/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Text("Item 2"),</a:t>
            </a:r>
            <a:endParaRPr lang="en-GB" b="0" dirty="0">
              <a:effectLst/>
            </a:endParaRPr>
          </a:p>
          <a:p>
            <a:pPr rtl="0"/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Text("Item 3"),</a:t>
            </a:r>
            <a:endParaRPr lang="en-GB" b="0" dirty="0">
              <a:effectLst/>
            </a:endParaRPr>
          </a:p>
          <a:p>
            <a:pPr rtl="0"/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],</a:t>
            </a:r>
            <a:endParaRPr lang="en-GB" b="0" dirty="0">
              <a:effectLst/>
            </a:endParaRPr>
          </a:p>
          <a:p>
            <a:pPr rtl="0"/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endParaRPr lang="en-GB" b="0" dirty="0">
              <a:effectLst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br>
              <a:rPr lang="en-GB" b="0" dirty="0">
                <a:effectLst/>
              </a:rPr>
            </a:br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Modify it to:</a:t>
            </a:r>
          </a:p>
          <a:p>
            <a:pPr marL="742950" lvl="1" indent="-285750" rtl="0" fontAlgn="base">
              <a:buFont typeface="+mj-lt"/>
              <a:buAutoNum type="arabicPeriod"/>
            </a:pPr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Display items horizontally instead of vertically.</a:t>
            </a:r>
          </a:p>
          <a:p>
            <a:pPr marL="742950" lvl="1" indent="-285750" rtl="0" fontAlgn="base">
              <a:buFont typeface="+mj-lt"/>
              <a:buAutoNum type="arabicPeriod"/>
            </a:pPr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 spacing between items.</a:t>
            </a:r>
          </a:p>
          <a:p>
            <a:pPr marL="742950" lvl="1" indent="-285750" rtl="0" fontAlgn="base">
              <a:spcAft>
                <a:spcPts val="1200"/>
              </a:spcAft>
              <a:buFont typeface="+mj-lt"/>
              <a:buAutoNum type="arabicPeriod"/>
            </a:pPr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Wrap it in a </a:t>
            </a:r>
            <a:r>
              <a:rPr lang="en-GB" sz="1100" b="0" i="0" u="none" strike="noStrike" dirty="0">
                <a:solidFill>
                  <a:srgbClr val="188038"/>
                </a:solidFill>
                <a:effectLst/>
                <a:latin typeface="Roboto Mono" panose="00000009000000000000" pitchFamily="49" charset="0"/>
              </a:rPr>
              <a:t>Container</a:t>
            </a:r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with padding.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552BE-0E49-8144-6BEC-3F0C3B450708}"/>
              </a:ext>
            </a:extLst>
          </p:cNvPr>
          <p:cNvSpPr txBox="1"/>
          <p:nvPr/>
        </p:nvSpPr>
        <p:spPr>
          <a:xfrm>
            <a:off x="4800600" y="209550"/>
            <a:ext cx="433323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200" b="1" i="0" u="none" strike="noStrike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Container(</a:t>
            </a:r>
            <a:endParaRPr lang="en-GB" sz="1200" b="1" dirty="0">
              <a:solidFill>
                <a:srgbClr val="C00000"/>
              </a:solidFill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200" b="1" i="0" u="none" strike="noStrike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  padding: </a:t>
            </a:r>
            <a:r>
              <a:rPr lang="en-GB" sz="1200" b="1" i="0" u="none" strike="noStrike" dirty="0" err="1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EdgeInsets.all</a:t>
            </a:r>
            <a:r>
              <a:rPr lang="en-GB" sz="1200" b="1" i="0" u="none" strike="noStrike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(16),</a:t>
            </a:r>
            <a:endParaRPr lang="en-GB" sz="1200" b="1" dirty="0">
              <a:solidFill>
                <a:srgbClr val="C00000"/>
              </a:solidFill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200" b="1" i="0" u="none" strike="noStrike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  child: Row(</a:t>
            </a:r>
            <a:endParaRPr lang="en-GB" sz="1200" b="1" dirty="0">
              <a:solidFill>
                <a:srgbClr val="C00000"/>
              </a:solidFill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200" b="1" i="0" u="none" strike="noStrike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    </a:t>
            </a:r>
            <a:r>
              <a:rPr lang="en-GB" sz="1200" b="1" i="0" u="none" strike="noStrike" dirty="0" err="1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mainAxisAlignment</a:t>
            </a:r>
            <a:r>
              <a:rPr lang="en-GB" sz="1200" b="1" i="0" u="none" strike="noStrike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GB" sz="1200" b="1" i="0" u="none" strike="noStrike" dirty="0" err="1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MainAxisAlignment.spaceEvenly</a:t>
            </a:r>
            <a:r>
              <a:rPr lang="en-GB" sz="1200" b="1" i="0" u="none" strike="noStrike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,</a:t>
            </a:r>
            <a:endParaRPr lang="en-GB" sz="1200" b="1" dirty="0">
              <a:solidFill>
                <a:srgbClr val="C00000"/>
              </a:solidFill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200" b="1" i="0" u="none" strike="noStrike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    children: [</a:t>
            </a:r>
            <a:endParaRPr lang="en-GB" sz="1200" b="1" dirty="0">
              <a:solidFill>
                <a:srgbClr val="C00000"/>
              </a:solidFill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200" b="1" i="0" u="none" strike="noStrike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      Text("Item 1"),</a:t>
            </a:r>
            <a:endParaRPr lang="en-GB" sz="1200" b="1" dirty="0">
              <a:solidFill>
                <a:srgbClr val="C00000"/>
              </a:solidFill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200" b="1" i="0" u="none" strike="noStrike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      Text("Item 2"),</a:t>
            </a:r>
            <a:endParaRPr lang="en-GB" sz="1200" b="1" dirty="0">
              <a:solidFill>
                <a:srgbClr val="C00000"/>
              </a:solidFill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200" b="1" i="0" u="none" strike="noStrike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      Text("Item 3"),</a:t>
            </a:r>
            <a:endParaRPr lang="en-GB" sz="1200" b="1" dirty="0">
              <a:solidFill>
                <a:srgbClr val="C00000"/>
              </a:solidFill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200" b="1" i="0" u="none" strike="noStrike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    ],</a:t>
            </a:r>
            <a:endParaRPr lang="en-GB" sz="1200" b="1" dirty="0">
              <a:solidFill>
                <a:srgbClr val="C00000"/>
              </a:solidFill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200" b="1" i="0" u="none" strike="noStrike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  ),)</a:t>
            </a:r>
            <a:br>
              <a:rPr lang="en-GB" sz="1200" b="1" dirty="0">
                <a:solidFill>
                  <a:srgbClr val="C00000"/>
                </a:solidFill>
              </a:rPr>
            </a:br>
            <a:endParaRPr lang="en-GB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62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5140</TotalTime>
  <Words>1299</Words>
  <Application>Microsoft Office PowerPoint</Application>
  <PresentationFormat>On-screen Show (16:9)</PresentationFormat>
  <Paragraphs>163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Arial MT</vt:lpstr>
      <vt:lpstr>Courier New</vt:lpstr>
      <vt:lpstr>Georgia</vt:lpstr>
      <vt:lpstr>Roboto</vt:lpstr>
      <vt:lpstr>Roboto Mono</vt:lpstr>
      <vt:lpstr>Tahoma</vt:lpstr>
      <vt:lpstr>Office Theme</vt:lpstr>
      <vt:lpstr>Lecture 1: Mobile Programming using Flutter</vt:lpstr>
      <vt:lpstr>What is Flutter?</vt:lpstr>
      <vt:lpstr>From Flutter Code to Plateform Code</vt:lpstr>
      <vt:lpstr>PowerPoint Presentation</vt:lpstr>
      <vt:lpstr>Platforms Supported by Flutter</vt:lpstr>
      <vt:lpstr>Target Platforms</vt:lpstr>
      <vt:lpstr>Target Platform Tools &amp;Devices Setup</vt:lpstr>
      <vt:lpstr>PowerPoint Presentation</vt:lpstr>
      <vt:lpstr>Starting our First Program</vt:lpstr>
      <vt:lpstr>import 'package:flutter/material.dart'</vt:lpstr>
      <vt:lpstr>main() runApp() functions</vt:lpstr>
      <vt:lpstr>What are Widgets ?</vt:lpstr>
      <vt:lpstr>Widget Tree</vt:lpstr>
      <vt:lpstr>Center</vt:lpstr>
      <vt:lpstr>Column</vt:lpstr>
      <vt:lpstr>Category of Widgets:</vt:lpstr>
      <vt:lpstr>PowerPoint Presentation</vt:lpstr>
      <vt:lpstr>Stateful vs Stateless </vt:lpstr>
      <vt:lpstr>MaterialApp → widget that wraps a number of widgets</vt:lpstr>
      <vt:lpstr>Remove the debug Banner</vt:lpstr>
      <vt:lpstr>Bool useMaterial3→ updated version than material 2 with more effects and colors</vt:lpstr>
      <vt:lpstr>StatefulWidget related to State Class</vt:lpstr>
      <vt:lpstr>PowerPoint Presentation</vt:lpstr>
      <vt:lpstr>Scaffold</vt:lpstr>
      <vt:lpstr>Snackbar</vt:lpstr>
      <vt:lpstr>Drawer</vt:lpstr>
      <vt:lpstr>Simple Exercise (Fill in the blanks)</vt:lpstr>
      <vt:lpstr>PowerPoint Presentation</vt:lpstr>
      <vt:lpstr>Given the following code using a Column widget: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Mobile Programming</dc:title>
  <dc:creator>TARAGGY</dc:creator>
  <cp:lastModifiedBy>Taraggy Ghanim</cp:lastModifiedBy>
  <cp:revision>9</cp:revision>
  <dcterms:created xsi:type="dcterms:W3CDTF">2024-09-22T20:47:27Z</dcterms:created>
  <dcterms:modified xsi:type="dcterms:W3CDTF">2026-02-08T22:09:23Z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