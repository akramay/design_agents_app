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6" r:id="rId2"/>
    <p:sldId id="282" r:id="rId3"/>
    <p:sldId id="413" r:id="rId4"/>
    <p:sldId id="285" r:id="rId5"/>
    <p:sldId id="289" r:id="rId6"/>
    <p:sldId id="290" r:id="rId7"/>
    <p:sldId id="291" r:id="rId8"/>
    <p:sldId id="292" r:id="rId9"/>
    <p:sldId id="293" r:id="rId10"/>
    <p:sldId id="294" r:id="rId11"/>
    <p:sldId id="299" r:id="rId12"/>
    <p:sldId id="300" r:id="rId13"/>
    <p:sldId id="301" r:id="rId14"/>
    <p:sldId id="414" r:id="rId15"/>
    <p:sldId id="415" r:id="rId16"/>
    <p:sldId id="417" r:id="rId17"/>
    <p:sldId id="416" r:id="rId18"/>
    <p:sldId id="418" r:id="rId19"/>
    <p:sldId id="419" r:id="rId20"/>
    <p:sldId id="420" r:id="rId21"/>
    <p:sldId id="421" r:id="rId22"/>
    <p:sldId id="422" r:id="rId23"/>
    <p:sldId id="423" r:id="rId24"/>
    <p:sldId id="425" r:id="rId25"/>
    <p:sldId id="270" r:id="rId26"/>
    <p:sldId id="271" r:id="rId27"/>
    <p:sldId id="272" r:id="rId28"/>
    <p:sldId id="273" r:id="rId29"/>
    <p:sldId id="274" r:id="rId30"/>
    <p:sldId id="275" r:id="rId31"/>
    <p:sldId id="277" r:id="rId32"/>
    <p:sldId id="278" r:id="rId33"/>
    <p:sldId id="280" r:id="rId34"/>
    <p:sldId id="281" r:id="rId35"/>
    <p:sldId id="411" r:id="rId36"/>
    <p:sldId id="387" r:id="rId37"/>
    <p:sldId id="388" r:id="rId38"/>
    <p:sldId id="389" r:id="rId39"/>
    <p:sldId id="390" r:id="rId40"/>
    <p:sldId id="391" r:id="rId41"/>
    <p:sldId id="39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51EC-41F4-62E0-DC5D-B3BE7D08A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5E0F3-709E-1B7B-1337-3F4ED7EB5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2427C-E0C7-39A3-A012-FBC604F4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F97C-BC82-B57A-C286-404618FE9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F53E8-26E8-3B82-9F3D-38D3CAA8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652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BF63-FEEE-B8A6-D560-E3460EA1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ABFD9-EDB7-7655-42B2-314260C49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15208-8278-DEBA-21C4-8E21FB96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82922-40CE-DB21-1676-82EC308D1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A561F-1846-6ECC-18AB-228A255D4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18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D593B-0D10-274F-1248-A1CFE1EC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B0D68-0DB8-690D-08A7-6693C33AE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8E2EE-C00C-EB2A-519E-A80282122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11210-67DD-D32D-8FA5-2F3D8D9EA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6463E-25AC-2E8D-3153-CCE7D1314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63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657F-5146-50C4-3643-5E31704F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2B92F-9D6B-2AB1-B768-81F063CC5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4957C-3C05-D2F4-FFD5-3ADA78D0C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2B037-243A-6E72-7D3D-FFAD2095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7F380-5C75-930E-7E27-425808E13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E057B-C82F-3C68-08D5-9D3B00725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89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6DBD6-600D-BDFC-8C45-A1637BD2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D4162-2988-F40B-3CC2-196D06D59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9FC3E-9C9E-193B-7FEA-CE8DF7A57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9CD91-E4C6-0B53-6B55-2A6EFFF3C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5F5EA-0A22-DB84-DCEC-DDA1B451E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DA5A0-20A1-DA4E-469C-D76BF4AF4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07F2E-29B1-6B7A-B6F6-6C272B0D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C56E51-1A82-12D7-66BE-97427E1E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38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F56D-962A-5FCA-9E17-2D307295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6F65F-5938-91AE-3CB5-6129855B8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F6B34-01A9-0892-C7A3-79AF65FC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B9FC7-A68B-62D4-302C-0B0469F7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88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67FDD-C694-33E4-D2C9-BCC468EC2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2725E-A0EB-94F8-D26A-D3ADA566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C2CD0-C616-FEAC-5AE0-88325B82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58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4462-F934-EBA8-1DB4-E6A5EA859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B56D-A77C-5516-72F8-A51229DBE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E0537-7D6B-C162-B047-ED63B49B2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07981-3B59-9B1C-B85D-5B4F08F80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40EAF-9C4A-5267-6C2C-4103BCE1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6AA3F-C957-6470-2B53-98DACD04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84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7D62-24EE-8CFB-BD09-CCD0E18E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AA7D0-5BFA-644D-005B-D5879FBCF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FD8B5-8DBD-738F-8C61-E8D3AB4A7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F0079-D944-5F52-EC18-ABCD4623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4D0E1-67CA-70DF-9917-38E0FBCED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8275E-DCE3-101D-6E55-1FD9EFF5F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08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8B1F7-80DA-BC1C-D39B-549A00E1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24136-C0F9-C4DD-2CC6-C73A77358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4C07A-19CF-368E-B3CE-85DD2FD67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8BA51-8170-DA22-6454-F504BAC44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1F8C6-2616-CD58-E776-0337A72D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35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A2F71-27EF-345B-5F69-D68CC6E6E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AC5E9-2F1A-907F-D071-DFF870454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1CC3-8B9A-213E-8902-46DFA583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1760A-8C47-B34A-A220-6338F3E5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A9072-2C9F-ED91-A9BD-52B3738F8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871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2967" y="209707"/>
            <a:ext cx="1042162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2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6756" y="3972247"/>
            <a:ext cx="11218485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724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C5613B-F69A-E05B-6368-8CEC0B93C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AE1E7-5B90-6DA3-65BC-2232DE4B0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1366F-9DFA-DC93-BF0A-ADF6EB2B5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2B275-5E34-443E-BE2D-10506C8206E6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69CE6-7A95-8DD9-857E-CAB51B4B09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F894E-8EBD-AC61-EE13-519A0AE23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21D53-0B69-40E3-B0F2-C858AB70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75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6" y="0"/>
            <a:ext cx="12192000" cy="4429760"/>
          </a:xfrm>
          <a:custGeom>
            <a:avLst/>
            <a:gdLst/>
            <a:ahLst/>
            <a:cxnLst/>
            <a:rect l="l" t="t" r="r" b="b"/>
            <a:pathLst>
              <a:path w="9144000" h="3322320">
                <a:moveTo>
                  <a:pt x="9143987" y="0"/>
                </a:moveTo>
                <a:lnTo>
                  <a:pt x="0" y="0"/>
                </a:lnTo>
                <a:lnTo>
                  <a:pt x="0" y="3124212"/>
                </a:lnTo>
                <a:lnTo>
                  <a:pt x="4395851" y="3124212"/>
                </a:lnTo>
                <a:lnTo>
                  <a:pt x="4572012" y="3322053"/>
                </a:lnTo>
                <a:lnTo>
                  <a:pt x="4748149" y="3124212"/>
                </a:lnTo>
                <a:lnTo>
                  <a:pt x="9143987" y="3124212"/>
                </a:lnTo>
                <a:lnTo>
                  <a:pt x="9143987" y="0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87789" y="1060794"/>
            <a:ext cx="9764607" cy="12482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702381" marR="6773" indent="-3686295">
              <a:spcBef>
                <a:spcPts val="133"/>
              </a:spcBef>
            </a:pPr>
            <a:r>
              <a:rPr sz="8000" spc="-907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8000" spc="-793" dirty="0">
                <a:solidFill>
                  <a:srgbClr val="FFFFFF"/>
                </a:solidFill>
                <a:latin typeface="Trebuchet MS"/>
                <a:cs typeface="Trebuchet MS"/>
              </a:rPr>
              <a:t>ectu</a:t>
            </a:r>
            <a:r>
              <a:rPr sz="8000" spc="-64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8000" spc="-10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8000" spc="-57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GB" sz="8000" spc="-867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8000" spc="-867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000" spc="-57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GB" sz="8000" spc="-773" dirty="0">
                <a:solidFill>
                  <a:srgbClr val="FFFFFF"/>
                </a:solidFill>
                <a:latin typeface="Trebuchet MS"/>
                <a:cs typeface="Trebuchet MS"/>
              </a:rPr>
              <a:t>Images &amp; Assets</a:t>
            </a:r>
            <a:endParaRPr sz="8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4509" y="4964323"/>
            <a:ext cx="407246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spc="-420" dirty="0">
                <a:solidFill>
                  <a:srgbClr val="424242"/>
                </a:solidFill>
                <a:latin typeface="Trebuchet MS"/>
                <a:cs typeface="Trebuchet MS"/>
              </a:rPr>
              <a:t>D</a:t>
            </a:r>
            <a:r>
              <a:rPr sz="4800" spc="-673" dirty="0">
                <a:solidFill>
                  <a:srgbClr val="424242"/>
                </a:solidFill>
                <a:latin typeface="Trebuchet MS"/>
                <a:cs typeface="Trebuchet MS"/>
              </a:rPr>
              <a:t>r</a:t>
            </a:r>
            <a:r>
              <a:rPr sz="4800" spc="-1125" dirty="0">
                <a:solidFill>
                  <a:srgbClr val="424242"/>
                </a:solidFill>
                <a:latin typeface="Trebuchet MS"/>
                <a:cs typeface="Trebuchet MS"/>
              </a:rPr>
              <a:t>.</a:t>
            </a:r>
            <a:r>
              <a:rPr sz="4800" spc="-1120" dirty="0">
                <a:solidFill>
                  <a:srgbClr val="424242"/>
                </a:solidFill>
                <a:latin typeface="Trebuchet MS"/>
                <a:cs typeface="Trebuchet MS"/>
              </a:rPr>
              <a:t>T</a:t>
            </a:r>
            <a:r>
              <a:rPr sz="4800" spc="-513" dirty="0">
                <a:solidFill>
                  <a:srgbClr val="424242"/>
                </a:solidFill>
                <a:latin typeface="Trebuchet MS"/>
                <a:cs typeface="Trebuchet MS"/>
              </a:rPr>
              <a:t>a</a:t>
            </a:r>
            <a:r>
              <a:rPr sz="4800" spc="-427" dirty="0">
                <a:solidFill>
                  <a:srgbClr val="424242"/>
                </a:solidFill>
                <a:latin typeface="Trebuchet MS"/>
                <a:cs typeface="Trebuchet MS"/>
              </a:rPr>
              <a:t>r</a:t>
            </a:r>
            <a:r>
              <a:rPr sz="4800" spc="-440" dirty="0">
                <a:solidFill>
                  <a:srgbClr val="424242"/>
                </a:solidFill>
                <a:latin typeface="Trebuchet MS"/>
                <a:cs typeface="Trebuchet MS"/>
              </a:rPr>
              <a:t>a</a:t>
            </a:r>
            <a:r>
              <a:rPr sz="4800" spc="-473" dirty="0">
                <a:solidFill>
                  <a:srgbClr val="424242"/>
                </a:solidFill>
                <a:latin typeface="Trebuchet MS"/>
                <a:cs typeface="Trebuchet MS"/>
              </a:rPr>
              <a:t>g</a:t>
            </a:r>
            <a:r>
              <a:rPr sz="4800" spc="-272" dirty="0">
                <a:solidFill>
                  <a:srgbClr val="424242"/>
                </a:solidFill>
                <a:latin typeface="Trebuchet MS"/>
                <a:cs typeface="Trebuchet MS"/>
              </a:rPr>
              <a:t>g</a:t>
            </a:r>
            <a:r>
              <a:rPr sz="4800" spc="-487" dirty="0">
                <a:solidFill>
                  <a:srgbClr val="424242"/>
                </a:solidFill>
                <a:latin typeface="Trebuchet MS"/>
                <a:cs typeface="Trebuchet MS"/>
              </a:rPr>
              <a:t>y</a:t>
            </a:r>
            <a:r>
              <a:rPr sz="4800" spc="-353" dirty="0">
                <a:solidFill>
                  <a:srgbClr val="424242"/>
                </a:solidFill>
                <a:latin typeface="Trebuchet MS"/>
                <a:cs typeface="Trebuchet MS"/>
              </a:rPr>
              <a:t> </a:t>
            </a:r>
            <a:r>
              <a:rPr sz="4800" spc="-540" dirty="0">
                <a:solidFill>
                  <a:srgbClr val="424242"/>
                </a:solidFill>
                <a:latin typeface="Trebuchet MS"/>
                <a:cs typeface="Trebuchet MS"/>
              </a:rPr>
              <a:t>Ghanim</a:t>
            </a:r>
            <a:endParaRPr sz="4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0" y="5143499"/>
                </a:moveTo>
                <a:lnTo>
                  <a:pt x="4571999" y="5143499"/>
                </a:lnTo>
                <a:lnTo>
                  <a:pt x="4571999" y="0"/>
                </a:lnTo>
                <a:lnTo>
                  <a:pt x="0" y="0"/>
                </a:lnTo>
                <a:lnTo>
                  <a:pt x="0" y="5143499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6096000" y="1"/>
            <a:ext cx="6096000" cy="6858847"/>
            <a:chOff x="4572000" y="0"/>
            <a:chExt cx="4572000" cy="5144135"/>
          </a:xfrm>
        </p:grpSpPr>
        <p:sp>
          <p:nvSpPr>
            <p:cNvPr id="4" name="object 4"/>
            <p:cNvSpPr/>
            <p:nvPr/>
          </p:nvSpPr>
          <p:spPr>
            <a:xfrm>
              <a:off x="4572000" y="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5029675" y="4495500"/>
              <a:ext cx="577215" cy="0"/>
            </a:xfrm>
            <a:custGeom>
              <a:avLst/>
              <a:gdLst/>
              <a:ahLst/>
              <a:cxnLst/>
              <a:rect l="l" t="t" r="r" b="b"/>
              <a:pathLst>
                <a:path w="577214">
                  <a:moveTo>
                    <a:pt x="0" y="0"/>
                  </a:moveTo>
                  <a:lnTo>
                    <a:pt x="577199" y="0"/>
                  </a:lnTo>
                </a:path>
              </a:pathLst>
            </a:custGeom>
            <a:ln w="19049">
              <a:solidFill>
                <a:srgbClr val="E91C6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750" y="0"/>
              <a:ext cx="2966475" cy="51434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06474" y="2726823"/>
            <a:ext cx="4090247" cy="9608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GB" sz="6133" dirty="0">
                <a:solidFill>
                  <a:schemeClr val="bg1"/>
                </a:solidFill>
                <a:latin typeface="Trebuchet MS"/>
                <a:cs typeface="Trebuchet MS"/>
              </a:rPr>
              <a:t>Exercise 1</a:t>
            </a:r>
            <a:endParaRPr sz="6133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CCC5-F17E-2B95-128D-872D14E7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0AF9A-59DA-20DB-4790-7A00328A9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Copy the contents of Exercise 1 in your </a:t>
            </a:r>
          </a:p>
          <a:p>
            <a:pPr marL="0" indent="0">
              <a:buNone/>
            </a:pPr>
            <a:r>
              <a:rPr lang="en-GB" dirty="0" err="1"/>
              <a:t>Main.dart</a:t>
            </a:r>
            <a:endParaRPr lang="en-GB" dirty="0"/>
          </a:p>
          <a:p>
            <a:r>
              <a:rPr lang="en-GB" dirty="0"/>
              <a:t>Complete the missing parts to implement</a:t>
            </a:r>
          </a:p>
          <a:p>
            <a:pPr marL="0" indent="0">
              <a:buNone/>
            </a:pPr>
            <a:r>
              <a:rPr lang="en-GB" dirty="0"/>
              <a:t> the following design 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E5B7210C-F22D-F6C8-65C7-C67D417395F2}"/>
              </a:ext>
            </a:extLst>
          </p:cNvPr>
          <p:cNvGrpSpPr/>
          <p:nvPr/>
        </p:nvGrpSpPr>
        <p:grpSpPr>
          <a:xfrm>
            <a:off x="7521677" y="-847"/>
            <a:ext cx="6096000" cy="6858847"/>
            <a:chOff x="4572000" y="0"/>
            <a:chExt cx="4572000" cy="514413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A58D2F9D-439A-6552-C4FD-5A530BF96A3C}"/>
                </a:ext>
              </a:extLst>
            </p:cNvPr>
            <p:cNvSpPr/>
            <p:nvPr/>
          </p:nvSpPr>
          <p:spPr>
            <a:xfrm>
              <a:off x="4572000" y="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62B36DA-502E-DA96-FC37-56859288365A}"/>
                </a:ext>
              </a:extLst>
            </p:cNvPr>
            <p:cNvSpPr/>
            <p:nvPr/>
          </p:nvSpPr>
          <p:spPr>
            <a:xfrm>
              <a:off x="5029675" y="4495500"/>
              <a:ext cx="577215" cy="0"/>
            </a:xfrm>
            <a:custGeom>
              <a:avLst/>
              <a:gdLst/>
              <a:ahLst/>
              <a:cxnLst/>
              <a:rect l="l" t="t" r="r" b="b"/>
              <a:pathLst>
                <a:path w="577214">
                  <a:moveTo>
                    <a:pt x="0" y="0"/>
                  </a:moveTo>
                  <a:lnTo>
                    <a:pt x="577199" y="0"/>
                  </a:lnTo>
                </a:path>
              </a:pathLst>
            </a:custGeom>
            <a:ln w="19049">
              <a:solidFill>
                <a:srgbClr val="E91C6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172874CA-4961-C53B-0253-3F4F7C5779F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750" y="0"/>
              <a:ext cx="2966475" cy="51434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898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0"/>
            <a:ext cx="12077700" cy="6858000"/>
            <a:chOff x="0" y="0"/>
            <a:chExt cx="905827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06000"/>
              <a:ext cx="6288074" cy="4037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8081" y="0"/>
              <a:ext cx="2769949" cy="51434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2967" y="718921"/>
            <a:ext cx="151214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339" dirty="0">
                <a:solidFill>
                  <a:srgbClr val="424242"/>
                </a:solidFill>
              </a:rPr>
              <a:t>Scaf</a:t>
            </a:r>
            <a:r>
              <a:rPr sz="4000" spc="-353" dirty="0">
                <a:solidFill>
                  <a:srgbClr val="424242"/>
                </a:solidFill>
              </a:rPr>
              <a:t>f</a:t>
            </a:r>
            <a:r>
              <a:rPr sz="4000" spc="-393" dirty="0">
                <a:solidFill>
                  <a:srgbClr val="424242"/>
                </a:solidFill>
              </a:rPr>
              <a:t>old</a:t>
            </a:r>
            <a:endParaRPr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8" y="718921"/>
            <a:ext cx="1599353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293" dirty="0">
                <a:solidFill>
                  <a:srgbClr val="424242"/>
                </a:solidFill>
              </a:rPr>
              <a:t>R</a:t>
            </a:r>
            <a:r>
              <a:rPr sz="4000" spc="-500" dirty="0">
                <a:solidFill>
                  <a:srgbClr val="424242"/>
                </a:solidFill>
              </a:rPr>
              <a:t>e</a:t>
            </a:r>
            <a:r>
              <a:rPr sz="4000" spc="-387" dirty="0">
                <a:solidFill>
                  <a:srgbClr val="424242"/>
                </a:solidFill>
              </a:rPr>
              <a:t>f</a:t>
            </a:r>
            <a:r>
              <a:rPr sz="4000" spc="-380" dirty="0">
                <a:solidFill>
                  <a:srgbClr val="424242"/>
                </a:solidFill>
              </a:rPr>
              <a:t>actor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7" y="1832006"/>
            <a:ext cx="12187132" cy="5025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883334"/>
            <a:ext cx="12191996" cy="58653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967" y="36045"/>
            <a:ext cx="3197013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545" dirty="0">
                <a:solidFill>
                  <a:srgbClr val="424242"/>
                </a:solidFill>
              </a:rPr>
              <a:t>W</a:t>
            </a:r>
            <a:r>
              <a:rPr sz="4000" spc="-313" dirty="0">
                <a:solidFill>
                  <a:srgbClr val="424242"/>
                </a:solidFill>
              </a:rPr>
              <a:t>r</a:t>
            </a:r>
            <a:r>
              <a:rPr sz="4000" spc="-460" dirty="0">
                <a:solidFill>
                  <a:srgbClr val="424242"/>
                </a:solidFill>
              </a:rPr>
              <a:t>ap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407" dirty="0">
                <a:solidFill>
                  <a:srgbClr val="424242"/>
                </a:solidFill>
              </a:rPr>
              <a:t>with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360" dirty="0">
                <a:solidFill>
                  <a:srgbClr val="424242"/>
                </a:solidFill>
              </a:rPr>
              <a:t>c</a:t>
            </a:r>
            <a:r>
              <a:rPr sz="4000" spc="-413" dirty="0">
                <a:solidFill>
                  <a:srgbClr val="424242"/>
                </a:solidFill>
              </a:rPr>
              <a:t>ent</a:t>
            </a:r>
            <a:r>
              <a:rPr sz="4000" spc="-339" dirty="0">
                <a:solidFill>
                  <a:srgbClr val="424242"/>
                </a:solidFill>
              </a:rPr>
              <a:t>r</a:t>
            </a:r>
            <a:r>
              <a:rPr sz="4000" spc="-500" dirty="0">
                <a:solidFill>
                  <a:srgbClr val="424242"/>
                </a:solidFill>
              </a:rPr>
              <a:t>e</a:t>
            </a:r>
            <a:endParaRPr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67" y="1"/>
            <a:ext cx="12093932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994267"/>
            <a:ext cx="12191999" cy="57480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3301" y="299653"/>
            <a:ext cx="203454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593" dirty="0">
                <a:solidFill>
                  <a:srgbClr val="424242"/>
                </a:solidFill>
              </a:rPr>
              <a:t>F</a:t>
            </a:r>
            <a:r>
              <a:rPr sz="4000" spc="-380" dirty="0">
                <a:solidFill>
                  <a:srgbClr val="424242"/>
                </a:solidFill>
              </a:rPr>
              <a:t>ormatting</a:t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88069"/>
            <a:ext cx="12192000" cy="5096087"/>
            <a:chOff x="0" y="1266051"/>
            <a:chExt cx="9144000" cy="38220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91175"/>
              <a:ext cx="9143999" cy="37869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86413"/>
              <a:ext cx="9144000" cy="3796665"/>
            </a:xfrm>
            <a:custGeom>
              <a:avLst/>
              <a:gdLst/>
              <a:ahLst/>
              <a:cxnLst/>
              <a:rect l="l" t="t" r="r" b="b"/>
              <a:pathLst>
                <a:path w="9144000" h="3796665">
                  <a:moveTo>
                    <a:pt x="0" y="0"/>
                  </a:moveTo>
                  <a:lnTo>
                    <a:pt x="9143999" y="0"/>
                  </a:lnTo>
                </a:path>
                <a:path w="9144000" h="3796665">
                  <a:moveTo>
                    <a:pt x="9143999" y="3796499"/>
                  </a:moveTo>
                  <a:lnTo>
                    <a:pt x="0" y="379649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2968" y="611199"/>
            <a:ext cx="10155032" cy="84809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GB" sz="5400" spc="-593" dirty="0">
                <a:solidFill>
                  <a:srgbClr val="4242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View- Command </a:t>
            </a:r>
            <a:r>
              <a:rPr lang="en-GB" sz="5400" spc="-593" dirty="0" err="1">
                <a:solidFill>
                  <a:srgbClr val="4242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Pallete</a:t>
            </a:r>
            <a:r>
              <a:rPr lang="en-GB" sz="5400" spc="-593" dirty="0">
                <a:solidFill>
                  <a:srgbClr val="4242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 </a:t>
            </a:r>
            <a:r>
              <a:rPr sz="5400" spc="-593" dirty="0">
                <a:solidFill>
                  <a:srgbClr val="4242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sz="5400" spc="-433" dirty="0">
                <a:solidFill>
                  <a:srgbClr val="4242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ormat</a:t>
            </a:r>
            <a:r>
              <a:rPr sz="5400" spc="-293" dirty="0">
                <a:solidFill>
                  <a:srgbClr val="4242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400" spc="-433" dirty="0">
                <a:solidFill>
                  <a:srgbClr val="4242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endParaRPr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" y="1"/>
            <a:ext cx="121891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161134"/>
            <a:ext cx="12191999" cy="56597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367" y="222254"/>
            <a:ext cx="3930227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393" dirty="0">
                <a:solidFill>
                  <a:srgbClr val="424242"/>
                </a:solidFill>
              </a:rPr>
              <a:t>Linear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533" dirty="0">
                <a:solidFill>
                  <a:srgbClr val="424242"/>
                </a:solidFill>
              </a:rPr>
              <a:t>G</a:t>
            </a:r>
            <a:r>
              <a:rPr sz="4000" spc="-347" dirty="0">
                <a:solidFill>
                  <a:srgbClr val="424242"/>
                </a:solidFill>
              </a:rPr>
              <a:t>r</a:t>
            </a:r>
            <a:r>
              <a:rPr sz="4000" spc="-407" dirty="0">
                <a:solidFill>
                  <a:srgbClr val="424242"/>
                </a:solidFill>
              </a:rPr>
              <a:t>adient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267" dirty="0">
                <a:solidFill>
                  <a:srgbClr val="424242"/>
                </a:solidFill>
              </a:rPr>
              <a:t>Class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576266"/>
            <a:ext cx="12191999" cy="52817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967" y="718921"/>
            <a:ext cx="8002693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393" dirty="0">
                <a:solidFill>
                  <a:srgbClr val="424242"/>
                </a:solidFill>
              </a:rPr>
              <a:t>Linear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420" dirty="0">
                <a:solidFill>
                  <a:srgbClr val="424242"/>
                </a:solidFill>
              </a:rPr>
              <a:t>Gradient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433" dirty="0">
                <a:solidFill>
                  <a:srgbClr val="424242"/>
                </a:solidFill>
              </a:rPr>
              <a:t>parameter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180" dirty="0">
                <a:solidFill>
                  <a:srgbClr val="424242"/>
                </a:solidFill>
              </a:rPr>
              <a:t>is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467" dirty="0">
                <a:solidFill>
                  <a:srgbClr val="424242"/>
                </a:solidFill>
              </a:rPr>
              <a:t>a</a:t>
            </a:r>
            <a:r>
              <a:rPr sz="4000" spc="-287" dirty="0">
                <a:solidFill>
                  <a:srgbClr val="424242"/>
                </a:solidFill>
              </a:rPr>
              <a:t> </a:t>
            </a:r>
            <a:r>
              <a:rPr sz="4000" spc="-247" dirty="0">
                <a:solidFill>
                  <a:srgbClr val="424242"/>
                </a:solidFill>
              </a:rPr>
              <a:t>list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393" dirty="0">
                <a:solidFill>
                  <a:srgbClr val="424242"/>
                </a:solidFill>
              </a:rPr>
              <a:t>of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320" dirty="0">
                <a:solidFill>
                  <a:srgbClr val="424242"/>
                </a:solidFill>
              </a:rPr>
              <a:t>colors</a:t>
            </a:r>
            <a:endParaRPr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78001"/>
            <a:ext cx="12074000" cy="5879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9813" y="222254"/>
            <a:ext cx="6125633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420" dirty="0">
                <a:solidFill>
                  <a:srgbClr val="424242"/>
                </a:solidFill>
              </a:rPr>
              <a:t>Gradient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353" dirty="0">
                <a:solidFill>
                  <a:srgbClr val="424242"/>
                </a:solidFill>
              </a:rPr>
              <a:t>Direction</a:t>
            </a:r>
            <a:r>
              <a:rPr sz="4000" spc="-287" dirty="0">
                <a:solidFill>
                  <a:srgbClr val="424242"/>
                </a:solidFill>
              </a:rPr>
              <a:t> </a:t>
            </a:r>
            <a:r>
              <a:rPr sz="4000" spc="-280" dirty="0">
                <a:solidFill>
                  <a:srgbClr val="424242"/>
                </a:solidFill>
              </a:rPr>
              <a:t>(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373" dirty="0">
                <a:solidFill>
                  <a:srgbClr val="424242"/>
                </a:solidFill>
              </a:rPr>
              <a:t>begin</a:t>
            </a:r>
            <a:r>
              <a:rPr sz="4000" spc="-287" dirty="0">
                <a:solidFill>
                  <a:srgbClr val="424242"/>
                </a:solidFill>
              </a:rPr>
              <a:t> </a:t>
            </a:r>
            <a:r>
              <a:rPr sz="4000" spc="-407" dirty="0">
                <a:solidFill>
                  <a:srgbClr val="424242"/>
                </a:solidFill>
              </a:rPr>
              <a:t>&amp;</a:t>
            </a:r>
            <a:r>
              <a:rPr sz="4000" spc="-293" dirty="0">
                <a:solidFill>
                  <a:srgbClr val="424242"/>
                </a:solidFill>
              </a:rPr>
              <a:t> </a:t>
            </a:r>
            <a:r>
              <a:rPr sz="4000" spc="-460" dirty="0">
                <a:solidFill>
                  <a:srgbClr val="424242"/>
                </a:solidFill>
              </a:rPr>
              <a:t>end)</a:t>
            </a:r>
            <a:endParaRPr sz="4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86E85-8DDF-3B67-B967-23244136B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14657F-A034-CF03-791F-A3D622B2E31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0" y="5143499"/>
                </a:moveTo>
                <a:lnTo>
                  <a:pt x="4571999" y="5143499"/>
                </a:lnTo>
                <a:lnTo>
                  <a:pt x="4571999" y="0"/>
                </a:lnTo>
                <a:lnTo>
                  <a:pt x="0" y="0"/>
                </a:lnTo>
                <a:lnTo>
                  <a:pt x="0" y="5143499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68FA40C-C5DD-75BC-3140-4FAF5778410A}"/>
              </a:ext>
            </a:extLst>
          </p:cNvPr>
          <p:cNvGrpSpPr/>
          <p:nvPr/>
        </p:nvGrpSpPr>
        <p:grpSpPr>
          <a:xfrm>
            <a:off x="6096000" y="1"/>
            <a:ext cx="6096000" cy="6858847"/>
            <a:chOff x="4572000" y="0"/>
            <a:chExt cx="4572000" cy="514413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83C8D86-7B42-D5DD-EC08-982BFD987F60}"/>
                </a:ext>
              </a:extLst>
            </p:cNvPr>
            <p:cNvSpPr/>
            <p:nvPr/>
          </p:nvSpPr>
          <p:spPr>
            <a:xfrm>
              <a:off x="4572000" y="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AF1B5F2-BBC9-7162-9935-BB9BB49725EF}"/>
                </a:ext>
              </a:extLst>
            </p:cNvPr>
            <p:cNvSpPr/>
            <p:nvPr/>
          </p:nvSpPr>
          <p:spPr>
            <a:xfrm>
              <a:off x="5029675" y="4495500"/>
              <a:ext cx="577215" cy="0"/>
            </a:xfrm>
            <a:custGeom>
              <a:avLst/>
              <a:gdLst/>
              <a:ahLst/>
              <a:cxnLst/>
              <a:rect l="l" t="t" r="r" b="b"/>
              <a:pathLst>
                <a:path w="577214">
                  <a:moveTo>
                    <a:pt x="0" y="0"/>
                  </a:moveTo>
                  <a:lnTo>
                    <a:pt x="577199" y="0"/>
                  </a:lnTo>
                </a:path>
              </a:pathLst>
            </a:custGeom>
            <a:ln w="19049">
              <a:solidFill>
                <a:srgbClr val="E91C6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0A4027B-FDCD-2F2B-D9E2-B8900E2986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750" y="0"/>
              <a:ext cx="2966475" cy="5143499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A4A130C2-87B9-B24D-1617-E1F0F6EFDE4B}"/>
              </a:ext>
            </a:extLst>
          </p:cNvPr>
          <p:cNvSpPr txBox="1"/>
          <p:nvPr/>
        </p:nvSpPr>
        <p:spPr>
          <a:xfrm>
            <a:off x="1006474" y="2726823"/>
            <a:ext cx="4090247" cy="9608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GB" sz="6133" dirty="0">
                <a:solidFill>
                  <a:schemeClr val="bg1"/>
                </a:solidFill>
                <a:latin typeface="Trebuchet MS"/>
                <a:cs typeface="Trebuchet MS"/>
              </a:rPr>
              <a:t>Exercise 2</a:t>
            </a:r>
            <a:endParaRPr sz="6133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847659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8E7E-66A2-3EE0-CAA7-3CA06C76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3C2DD-F752-4795-CE5B-E8291A3F2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A7D64-82E9-B831-F8D3-D77C9DE47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Copy the contents of Exercise 2 in your </a:t>
            </a:r>
          </a:p>
          <a:p>
            <a:pPr marL="0" indent="0">
              <a:buNone/>
            </a:pPr>
            <a:r>
              <a:rPr lang="en-GB" dirty="0" err="1"/>
              <a:t>Main.dart</a:t>
            </a:r>
            <a:endParaRPr lang="en-GB" dirty="0"/>
          </a:p>
          <a:p>
            <a:r>
              <a:rPr lang="en-GB" dirty="0"/>
              <a:t>Complete the missing parts to add </a:t>
            </a:r>
          </a:p>
          <a:p>
            <a:pPr marL="0" indent="0">
              <a:buNone/>
            </a:pPr>
            <a:r>
              <a:rPr lang="en-GB" dirty="0"/>
              <a:t>gradient </a:t>
            </a:r>
            <a:r>
              <a:rPr lang="en-GB" dirty="0" err="1"/>
              <a:t>colors</a:t>
            </a:r>
            <a:r>
              <a:rPr lang="en-GB" dirty="0"/>
              <a:t> to the following design 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5E507CA4-F67E-E869-8F45-64D33351D686}"/>
              </a:ext>
            </a:extLst>
          </p:cNvPr>
          <p:cNvGrpSpPr/>
          <p:nvPr/>
        </p:nvGrpSpPr>
        <p:grpSpPr>
          <a:xfrm>
            <a:off x="7521677" y="-847"/>
            <a:ext cx="6096000" cy="6858847"/>
            <a:chOff x="4572000" y="0"/>
            <a:chExt cx="4572000" cy="514413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7F72456A-EE96-22C1-7212-FC687BE56CCB}"/>
                </a:ext>
              </a:extLst>
            </p:cNvPr>
            <p:cNvSpPr/>
            <p:nvPr/>
          </p:nvSpPr>
          <p:spPr>
            <a:xfrm>
              <a:off x="4572000" y="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1DEE101-563D-991C-AC87-9750A8A0D71B}"/>
                </a:ext>
              </a:extLst>
            </p:cNvPr>
            <p:cNvSpPr/>
            <p:nvPr/>
          </p:nvSpPr>
          <p:spPr>
            <a:xfrm>
              <a:off x="5029675" y="4495500"/>
              <a:ext cx="577215" cy="0"/>
            </a:xfrm>
            <a:custGeom>
              <a:avLst/>
              <a:gdLst/>
              <a:ahLst/>
              <a:cxnLst/>
              <a:rect l="l" t="t" r="r" b="b"/>
              <a:pathLst>
                <a:path w="577214">
                  <a:moveTo>
                    <a:pt x="0" y="0"/>
                  </a:moveTo>
                  <a:lnTo>
                    <a:pt x="577199" y="0"/>
                  </a:lnTo>
                </a:path>
              </a:pathLst>
            </a:custGeom>
            <a:ln w="19049">
              <a:solidFill>
                <a:srgbClr val="E91C6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63B214E-378B-58C1-0B2C-7DDB63EA26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750" y="0"/>
              <a:ext cx="2966475" cy="51434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9332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B2599-C44E-9367-F6E1-0918A3D6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09A717-19F7-B209-679F-D2355CE3B53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0" y="5143499"/>
                </a:moveTo>
                <a:lnTo>
                  <a:pt x="4571999" y="5143499"/>
                </a:lnTo>
                <a:lnTo>
                  <a:pt x="4571999" y="0"/>
                </a:lnTo>
                <a:lnTo>
                  <a:pt x="0" y="0"/>
                </a:lnTo>
                <a:lnTo>
                  <a:pt x="0" y="5143499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1C0C625-2F29-C6D8-9FB2-634DE334D3C6}"/>
              </a:ext>
            </a:extLst>
          </p:cNvPr>
          <p:cNvSpPr txBox="1"/>
          <p:nvPr/>
        </p:nvSpPr>
        <p:spPr>
          <a:xfrm>
            <a:off x="1006474" y="2726823"/>
            <a:ext cx="4090247" cy="9608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GB" sz="6133" dirty="0">
                <a:solidFill>
                  <a:schemeClr val="bg1"/>
                </a:solidFill>
                <a:latin typeface="Trebuchet MS"/>
                <a:cs typeface="Trebuchet MS"/>
              </a:rPr>
              <a:t>Exercise 3</a:t>
            </a:r>
            <a:endParaRPr sz="6133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12E509-22C3-E2A6-2BC0-AA193F63C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423" y="-117987"/>
            <a:ext cx="3383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78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FF24-B5E5-6E22-B05D-5265FEFE2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Replace the Hello World </a:t>
            </a:r>
            <a:r>
              <a:rPr lang="en-GB" dirty="0" err="1"/>
              <a:t>witn</a:t>
            </a:r>
            <a:r>
              <a:rPr lang="en-GB" dirty="0"/>
              <a:t> the dice image and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FC67A-AAE5-3C84-A47C-9B6C9478A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Step 1: Add assets folder to your project</a:t>
            </a:r>
          </a:p>
          <a:p>
            <a:r>
              <a:rPr lang="en-GB" dirty="0"/>
              <a:t>Step 2: Add the following section in your </a:t>
            </a:r>
            <a:r>
              <a:rPr lang="en-GB" dirty="0" err="1"/>
              <a:t>yaml</a:t>
            </a:r>
            <a:r>
              <a:rPr lang="en-GB" dirty="0"/>
              <a:t> file (Make sure the indent is </a:t>
            </a:r>
            <a:r>
              <a:rPr lang="en-GB" b="1" dirty="0"/>
              <a:t>2 spaces)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flutter:</a:t>
            </a:r>
          </a:p>
          <a:p>
            <a:pPr marL="0" indent="0">
              <a:buNone/>
            </a:pPr>
            <a:r>
              <a:rPr lang="en-GB" dirty="0"/>
              <a:t>  uses-material-design: true</a:t>
            </a:r>
          </a:p>
          <a:p>
            <a:pPr marL="0" indent="0">
              <a:buNone/>
            </a:pPr>
            <a:r>
              <a:rPr lang="en-GB" dirty="0"/>
              <a:t>  assets:</a:t>
            </a:r>
          </a:p>
          <a:p>
            <a:pPr marL="0" indent="0">
              <a:buNone/>
            </a:pPr>
            <a:r>
              <a:rPr lang="en-GB" dirty="0"/>
              <a:t>    - assets/dice1.png</a:t>
            </a:r>
          </a:p>
          <a:p>
            <a:pPr marL="0" indent="0">
              <a:buNone/>
            </a:pPr>
            <a:r>
              <a:rPr lang="en-GB" dirty="0"/>
              <a:t>    - assets/dice2.png</a:t>
            </a:r>
          </a:p>
          <a:p>
            <a:pPr marL="0" indent="0">
              <a:buNone/>
            </a:pPr>
            <a:r>
              <a:rPr lang="en-GB" dirty="0"/>
              <a:t>    - assets/dice3.png</a:t>
            </a:r>
          </a:p>
          <a:p>
            <a:pPr marL="0" indent="0">
              <a:buNone/>
            </a:pPr>
            <a:r>
              <a:rPr lang="en-GB" dirty="0"/>
              <a:t>    - assets/dice4.png</a:t>
            </a:r>
          </a:p>
          <a:p>
            <a:pPr marL="0" indent="0">
              <a:buNone/>
            </a:pPr>
            <a:r>
              <a:rPr lang="en-GB" dirty="0"/>
              <a:t>    - assets/dice5.png</a:t>
            </a:r>
          </a:p>
          <a:p>
            <a:pPr marL="0" indent="0">
              <a:buNone/>
            </a:pPr>
            <a:r>
              <a:rPr lang="en-GB" dirty="0"/>
              <a:t>    - assets/dice6.png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 Step3: Run the code of Exercise 3</a:t>
            </a:r>
          </a:p>
        </p:txBody>
      </p:sp>
    </p:spTree>
    <p:extLst>
      <p:ext uri="{BB962C8B-B14F-4D97-AF65-F5344CB8AC3E}">
        <p14:creationId xmlns:p14="http://schemas.microsoft.com/office/powerpoint/2010/main" val="3182746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64BBE-D930-434F-CA0B-86EDBA2B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A958FC-ADF1-C66B-33AE-F09E41B8FF2F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0" y="5143499"/>
                </a:moveTo>
                <a:lnTo>
                  <a:pt x="4571999" y="5143499"/>
                </a:lnTo>
                <a:lnTo>
                  <a:pt x="4571999" y="0"/>
                </a:lnTo>
                <a:lnTo>
                  <a:pt x="0" y="0"/>
                </a:lnTo>
                <a:lnTo>
                  <a:pt x="0" y="5143499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E4A36B0-DA3F-93D7-089E-BD55A806C395}"/>
              </a:ext>
            </a:extLst>
          </p:cNvPr>
          <p:cNvSpPr txBox="1"/>
          <p:nvPr/>
        </p:nvSpPr>
        <p:spPr>
          <a:xfrm>
            <a:off x="1006474" y="2726823"/>
            <a:ext cx="4578249" cy="19046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GB" sz="6133" dirty="0">
                <a:solidFill>
                  <a:schemeClr val="bg1"/>
                </a:solidFill>
                <a:latin typeface="Trebuchet MS"/>
                <a:cs typeface="Trebuchet MS"/>
              </a:rPr>
              <a:t>Exercise 4: Roll Dice</a:t>
            </a:r>
            <a:endParaRPr sz="6133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EDF8A2-4E99-E487-F73A-12FDCE554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626" y="-88491"/>
            <a:ext cx="3383373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B425B7-6E3B-7A4D-F1E8-E6024CBC3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588" y="-88491"/>
            <a:ext cx="3297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36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E4C0-F018-8400-CF6E-6CFBB35A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Task 1 — Convert to </a:t>
            </a:r>
            <a:r>
              <a:rPr lang="en-GB" b="1" dirty="0" err="1"/>
              <a:t>StatefulWidget</a:t>
            </a:r>
            <a:r>
              <a:rPr lang="en-GB" b="1" dirty="0"/>
              <a:t> and show a dice image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C9489-9FA4-4096-4303-FF15D8E0D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Goal:</a:t>
            </a:r>
            <a:r>
              <a:rPr lang="en-GB" dirty="0"/>
              <a:t> Replace “Hello World!” with a dice image that reads from assets.</a:t>
            </a:r>
          </a:p>
          <a:p>
            <a:r>
              <a:rPr lang="en-GB" b="1" dirty="0"/>
              <a:t>Do</a:t>
            </a:r>
            <a:endParaRPr lang="en-GB" dirty="0"/>
          </a:p>
          <a:p>
            <a:r>
              <a:rPr lang="en-GB" dirty="0"/>
              <a:t>Change </a:t>
            </a:r>
            <a:r>
              <a:rPr lang="en-GB" dirty="0" err="1"/>
              <a:t>HelloScreen</a:t>
            </a:r>
            <a:r>
              <a:rPr lang="en-GB" dirty="0"/>
              <a:t> from </a:t>
            </a:r>
            <a:r>
              <a:rPr lang="en-GB" dirty="0" err="1"/>
              <a:t>StatelessWidget</a:t>
            </a:r>
            <a:r>
              <a:rPr lang="en-GB" dirty="0"/>
              <a:t> to </a:t>
            </a:r>
            <a:r>
              <a:rPr lang="en-GB" dirty="0" err="1"/>
              <a:t>StatefulWidget</a:t>
            </a:r>
            <a:r>
              <a:rPr lang="en-GB" dirty="0"/>
              <a:t>.</a:t>
            </a:r>
          </a:p>
          <a:p>
            <a:r>
              <a:rPr lang="en-GB" dirty="0"/>
              <a:t>Add an integer state int _face = 1;.</a:t>
            </a:r>
          </a:p>
          <a:p>
            <a:r>
              <a:rPr lang="en-GB" dirty="0"/>
              <a:t>Show the image with a path that uses _face:</a:t>
            </a:r>
            <a:br>
              <a:rPr lang="en-GB" dirty="0"/>
            </a:br>
            <a:r>
              <a:rPr lang="en-GB" dirty="0" err="1"/>
              <a:t>Image.asset</a:t>
            </a:r>
            <a:r>
              <a:rPr lang="en-GB" dirty="0"/>
              <a:t>('assets/dice$_face.png').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6317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4C74-80AC-2943-2C52-88EB8A05D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Task 2 — Add a “Roll” button that randomizes the dice (</a:t>
            </a:r>
            <a:r>
              <a:rPr lang="en-GB" b="1" dirty="0" err="1"/>
              <a:t>setState</a:t>
            </a:r>
            <a:r>
              <a:rPr lang="en-GB" b="1" dirty="0"/>
              <a:t>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3BC6D-88E0-1906-C409-5B152875B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Goal:</a:t>
            </a:r>
            <a:r>
              <a:rPr lang="en-GB" dirty="0"/>
              <a:t> Pressing the button should change the dice face randomly (1..6).</a:t>
            </a:r>
          </a:p>
          <a:p>
            <a:pPr marL="0" indent="0">
              <a:buNone/>
            </a:pPr>
            <a:r>
              <a:rPr lang="en-GB" b="1" dirty="0"/>
              <a:t>Do</a:t>
            </a:r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dart:math</a:t>
            </a:r>
            <a:r>
              <a:rPr lang="en-GB" dirty="0"/>
              <a:t> and create a Random instance.</a:t>
            </a:r>
          </a:p>
          <a:p>
            <a:r>
              <a:rPr lang="en-GB" dirty="0"/>
              <a:t>In </a:t>
            </a:r>
            <a:r>
              <a:rPr lang="en-GB" dirty="0" err="1"/>
              <a:t>onPressed</a:t>
            </a:r>
            <a:r>
              <a:rPr lang="en-GB" dirty="0"/>
              <a:t>, compute a random </a:t>
            </a:r>
            <a:r>
              <a:rPr lang="en-GB" dirty="0" err="1"/>
              <a:t>newFace</a:t>
            </a:r>
            <a:r>
              <a:rPr lang="en-GB" dirty="0"/>
              <a:t> from 1..6 and call </a:t>
            </a:r>
            <a:r>
              <a:rPr lang="en-GB" dirty="0" err="1"/>
              <a:t>setState</a:t>
            </a:r>
            <a:r>
              <a:rPr lang="en-GB" dirty="0"/>
              <a:t>(() { _face = </a:t>
            </a:r>
            <a:r>
              <a:rPr lang="en-GB" dirty="0" err="1"/>
              <a:t>newFace</a:t>
            </a:r>
            <a:r>
              <a:rPr lang="en-GB" dirty="0"/>
              <a:t>; });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5046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24C56-DE42-1EBB-6169-BA270F7B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Task 3 — Add a bounce animation when the dice changes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DB06E-EABA-80C7-428C-64DC227C1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Goal:</a:t>
            </a:r>
            <a:r>
              <a:rPr lang="en-GB" dirty="0"/>
              <a:t> The dice should “pop/bounce” on every roll.</a:t>
            </a:r>
          </a:p>
          <a:p>
            <a:r>
              <a:rPr lang="en-GB" b="1" dirty="0"/>
              <a:t>Do</a:t>
            </a:r>
            <a:endParaRPr lang="en-GB" dirty="0"/>
          </a:p>
          <a:p>
            <a:r>
              <a:rPr lang="en-GB" dirty="0"/>
              <a:t>Make </a:t>
            </a:r>
            <a:r>
              <a:rPr lang="en-GB" dirty="0" err="1"/>
              <a:t>HelloScreenState</a:t>
            </a:r>
            <a:r>
              <a:rPr lang="en-GB" dirty="0"/>
              <a:t> mix in </a:t>
            </a:r>
            <a:r>
              <a:rPr lang="en-GB" dirty="0" err="1"/>
              <a:t>SingleTickerProviderStateMixin</a:t>
            </a:r>
            <a:r>
              <a:rPr lang="en-GB" dirty="0"/>
              <a:t>.</a:t>
            </a:r>
          </a:p>
          <a:p>
            <a:r>
              <a:rPr lang="en-GB" dirty="0"/>
              <a:t>Create an </a:t>
            </a:r>
            <a:r>
              <a:rPr lang="en-GB" dirty="0" err="1"/>
              <a:t>AnimationController</a:t>
            </a:r>
            <a:r>
              <a:rPr lang="en-GB" dirty="0"/>
              <a:t> and a Curved scale animation (e.g., </a:t>
            </a:r>
            <a:r>
              <a:rPr lang="en-GB" dirty="0" err="1"/>
              <a:t>Curves.elasticOut</a:t>
            </a:r>
            <a:r>
              <a:rPr lang="en-GB" dirty="0"/>
              <a:t>).</a:t>
            </a:r>
          </a:p>
          <a:p>
            <a:r>
              <a:rPr lang="en-GB" dirty="0"/>
              <a:t>Wrap the </a:t>
            </a:r>
            <a:r>
              <a:rPr lang="en-GB" dirty="0" err="1"/>
              <a:t>Image.asset</a:t>
            </a:r>
            <a:r>
              <a:rPr lang="en-GB" dirty="0"/>
              <a:t> with a </a:t>
            </a:r>
            <a:r>
              <a:rPr lang="en-GB" dirty="0" err="1"/>
              <a:t>ScaleTransition</a:t>
            </a:r>
            <a:r>
              <a:rPr lang="en-GB" dirty="0"/>
              <a:t>.</a:t>
            </a:r>
          </a:p>
          <a:p>
            <a:r>
              <a:rPr lang="en-GB" dirty="0"/>
              <a:t>In </a:t>
            </a:r>
            <a:r>
              <a:rPr lang="en-GB" dirty="0" err="1"/>
              <a:t>onPressed</a:t>
            </a:r>
            <a:r>
              <a:rPr lang="en-GB" dirty="0"/>
              <a:t>, when you roll, restart the animation with </a:t>
            </a:r>
            <a:r>
              <a:rPr lang="en-GB" dirty="0" err="1"/>
              <a:t>controller.forward</a:t>
            </a:r>
            <a:r>
              <a:rPr lang="en-GB" dirty="0"/>
              <a:t>(from: 0).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9758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4198-F97D-4023-26D3-FD5B6D812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Task 4 — Show the rolled number under the button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B5F1D-B765-E8F4-1D95-99A952B01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Goal:</a:t>
            </a:r>
            <a:r>
              <a:rPr lang="en-GB" dirty="0"/>
              <a:t> Display text like </a:t>
            </a:r>
            <a:r>
              <a:rPr lang="en-GB" b="1" dirty="0"/>
              <a:t>“You rolled: 5”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Do</a:t>
            </a:r>
            <a:endParaRPr lang="en-GB" dirty="0"/>
          </a:p>
          <a:p>
            <a:r>
              <a:rPr lang="en-GB" dirty="0"/>
              <a:t>Add a Text('You rolled: $_face') under the button with a readable style.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5345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692D4F-B89C-73DE-8756-801EC54F5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065" y="1095270"/>
            <a:ext cx="4747035" cy="57627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870ACF-E476-8C40-D394-1F7A1F407F34}"/>
              </a:ext>
            </a:extLst>
          </p:cNvPr>
          <p:cNvSpPr txBox="1"/>
          <p:nvPr/>
        </p:nvSpPr>
        <p:spPr>
          <a:xfrm>
            <a:off x="462224" y="311499"/>
            <a:ext cx="8374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 err="1">
                <a:solidFill>
                  <a:srgbClr val="C00000"/>
                </a:solidFill>
              </a:rPr>
              <a:t>initState</a:t>
            </a:r>
            <a:r>
              <a:rPr lang="en-GB" sz="3600" dirty="0">
                <a:solidFill>
                  <a:srgbClr val="C00000"/>
                </a:solidFill>
              </a:rPr>
              <a:t>,  dispose,  </a:t>
            </a:r>
            <a:r>
              <a:rPr lang="en-GB" sz="3600" dirty="0" err="1">
                <a:solidFill>
                  <a:srgbClr val="C00000"/>
                </a:solidFill>
              </a:rPr>
              <a:t>rand.nextInt</a:t>
            </a:r>
            <a:r>
              <a:rPr lang="en-GB" sz="3600" dirty="0">
                <a:solidFill>
                  <a:srgbClr val="C00000"/>
                </a:solidFill>
              </a:rPr>
              <a:t>,  </a:t>
            </a:r>
            <a:r>
              <a:rPr lang="en-GB" sz="3600" dirty="0" err="1">
                <a:solidFill>
                  <a:srgbClr val="C00000"/>
                </a:solidFill>
              </a:rPr>
              <a:t>setstate</a:t>
            </a:r>
            <a:endParaRPr lang="en-GB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995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1321-4748-2F4C-401F-0E176B8E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761FF2-B2F2-5A3B-FBC3-E63DC8EC285A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0" y="5143499"/>
                </a:moveTo>
                <a:lnTo>
                  <a:pt x="4571999" y="5143499"/>
                </a:lnTo>
                <a:lnTo>
                  <a:pt x="4571999" y="0"/>
                </a:lnTo>
                <a:lnTo>
                  <a:pt x="0" y="0"/>
                </a:lnTo>
                <a:lnTo>
                  <a:pt x="0" y="5143499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2107A6C-70D8-7105-8B1E-2571581AD313}"/>
              </a:ext>
            </a:extLst>
          </p:cNvPr>
          <p:cNvSpPr txBox="1"/>
          <p:nvPr/>
        </p:nvSpPr>
        <p:spPr>
          <a:xfrm>
            <a:off x="491614" y="2726823"/>
            <a:ext cx="5093110" cy="19046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GB" sz="6133" dirty="0">
                <a:solidFill>
                  <a:schemeClr val="bg1"/>
                </a:solidFill>
                <a:latin typeface="Trebuchet MS"/>
                <a:cs typeface="Trebuchet MS"/>
              </a:rPr>
              <a:t>Other Ways to use Images</a:t>
            </a:r>
          </a:p>
        </p:txBody>
      </p:sp>
    </p:spTree>
    <p:extLst>
      <p:ext uri="{BB962C8B-B14F-4D97-AF65-F5344CB8AC3E}">
        <p14:creationId xmlns:p14="http://schemas.microsoft.com/office/powerpoint/2010/main" val="3376623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Images from URL (Network)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Image.network for online images</a:t>
            </a:r>
          </a:p>
          <a:p>
            <a:r>
              <a:t>Use FadeInImage.assetNetwork for placeholder + fade-in</a:t>
            </a:r>
          </a:p>
          <a:p>
            <a:r>
              <a:t>Consider caching for performance and offline reuse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Image — Snippets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400" dirty="0">
                <a:latin typeface="Consolas"/>
              </a:rPr>
              <a:t>// Simple network image:
</a:t>
            </a:r>
            <a:r>
              <a:rPr sz="1400" dirty="0" err="1">
                <a:latin typeface="Consolas"/>
              </a:rPr>
              <a:t>Image.network</a:t>
            </a:r>
            <a:r>
              <a:rPr sz="1400" dirty="0">
                <a:latin typeface="Consolas"/>
              </a:rPr>
              <a:t>(
  'https://example.com/dice3.png',
  width: 160, height: 160, fit: </a:t>
            </a:r>
            <a:r>
              <a:rPr sz="1400" dirty="0" err="1">
                <a:latin typeface="Consolas"/>
              </a:rPr>
              <a:t>BoxFit.contain</a:t>
            </a:r>
            <a:r>
              <a:rPr sz="1400" dirty="0">
                <a:latin typeface="Consolas"/>
              </a:rPr>
              <a:t>,
);
// Placeholder + fade-in:
</a:t>
            </a:r>
            <a:r>
              <a:rPr sz="1400" dirty="0" err="1">
                <a:latin typeface="Consolas"/>
              </a:rPr>
              <a:t>FadeInImage.assetNetwork</a:t>
            </a:r>
            <a:r>
              <a:rPr sz="1400" dirty="0">
                <a:latin typeface="Consolas"/>
              </a:rPr>
              <a:t>(
  placeholder: 'assets/dice1.png',
  image: 'https://example.com/dice3.png',
  width: 160, height: 160, fit: </a:t>
            </a:r>
            <a:r>
              <a:rPr sz="1400" dirty="0" err="1">
                <a:latin typeface="Consolas"/>
              </a:rPr>
              <a:t>BoxFit.contain</a:t>
            </a:r>
            <a:r>
              <a:rPr sz="1400" dirty="0">
                <a:latin typeface="Consolas"/>
              </a:rPr>
              <a:t>,
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Cached Network Images — pubspec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solidFill>
                  <a:schemeClr val="accent1"/>
                </a:solidFill>
                <a:latin typeface="Consolas"/>
              </a:rPr>
              <a:t>dependencies:
  </a:t>
            </a:r>
            <a:r>
              <a:rPr dirty="0" err="1">
                <a:solidFill>
                  <a:schemeClr val="accent1"/>
                </a:solidFill>
                <a:latin typeface="Consolas"/>
              </a:rPr>
              <a:t>cached_network_image</a:t>
            </a:r>
            <a:r>
              <a:rPr dirty="0">
                <a:solidFill>
                  <a:schemeClr val="accent1"/>
                </a:solidFill>
                <a:latin typeface="Consolas"/>
              </a:rPr>
              <a:t>: ^latest
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Cached Network Images —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latin typeface="Consolas"/>
              </a:rPr>
              <a:t>import '</a:t>
            </a:r>
            <a:r>
              <a:rPr sz="2000" dirty="0" err="1">
                <a:latin typeface="Consolas"/>
              </a:rPr>
              <a:t>package:cached_network_image</a:t>
            </a:r>
            <a:r>
              <a:rPr sz="2000" dirty="0">
                <a:latin typeface="Consolas"/>
              </a:rPr>
              <a:t>/</a:t>
            </a:r>
            <a:r>
              <a:rPr sz="2000" dirty="0" err="1">
                <a:latin typeface="Consolas"/>
              </a:rPr>
              <a:t>cached_network_image.dart</a:t>
            </a:r>
            <a:r>
              <a:rPr sz="2000" dirty="0">
                <a:latin typeface="Consolas"/>
              </a:rPr>
              <a:t>';
</a:t>
            </a:r>
            <a:r>
              <a:rPr sz="2000" dirty="0" err="1">
                <a:latin typeface="Consolas"/>
              </a:rPr>
              <a:t>CachedNetworkImage</a:t>
            </a:r>
            <a:r>
              <a:rPr sz="2000" dirty="0">
                <a:latin typeface="Consolas"/>
              </a:rPr>
              <a:t>(
  </a:t>
            </a:r>
            <a:r>
              <a:rPr sz="2000" dirty="0" err="1">
                <a:latin typeface="Consolas"/>
              </a:rPr>
              <a:t>imageUrl</a:t>
            </a:r>
            <a:r>
              <a:rPr sz="2000" dirty="0">
                <a:latin typeface="Consolas"/>
              </a:rPr>
              <a:t>: 'https://example.com/dice3.png',
  width: 160, height: 160,
  placeholder: (</a:t>
            </a:r>
            <a:r>
              <a:rPr sz="2000" dirty="0" err="1">
                <a:latin typeface="Consolas"/>
              </a:rPr>
              <a:t>ctx</a:t>
            </a:r>
            <a:r>
              <a:rPr sz="2000" dirty="0">
                <a:latin typeface="Consolas"/>
              </a:rPr>
              <a:t>, _) =&gt; const </a:t>
            </a:r>
            <a:r>
              <a:rPr sz="2000" dirty="0" err="1">
                <a:solidFill>
                  <a:srgbClr val="C00000"/>
                </a:solidFill>
                <a:latin typeface="Consolas"/>
              </a:rPr>
              <a:t>CircularProgressIndicator</a:t>
            </a:r>
            <a:r>
              <a:rPr sz="2000" dirty="0">
                <a:latin typeface="Consolas"/>
              </a:rPr>
              <a:t>(),
  </a:t>
            </a:r>
            <a:r>
              <a:rPr sz="2000" dirty="0" err="1">
                <a:latin typeface="Consolas"/>
              </a:rPr>
              <a:t>errorWidget</a:t>
            </a:r>
            <a:r>
              <a:rPr sz="2000" dirty="0">
                <a:latin typeface="Consolas"/>
              </a:rPr>
              <a:t>: (</a:t>
            </a:r>
            <a:r>
              <a:rPr sz="2000" dirty="0" err="1">
                <a:latin typeface="Consolas"/>
              </a:rPr>
              <a:t>ctx</a:t>
            </a:r>
            <a:r>
              <a:rPr sz="2000" dirty="0">
                <a:latin typeface="Consolas"/>
              </a:rPr>
              <a:t>, _, __) =&gt; const Icon(</a:t>
            </a:r>
            <a:r>
              <a:rPr sz="2000" dirty="0" err="1">
                <a:latin typeface="Consolas"/>
              </a:rPr>
              <a:t>Icons.error</a:t>
            </a:r>
            <a:r>
              <a:rPr sz="2000" dirty="0">
                <a:latin typeface="Consolas"/>
              </a:rPr>
              <a:t>),
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from Gallery / Camera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 </a:t>
            </a:r>
            <a:r>
              <a:rPr dirty="0" err="1"/>
              <a:t>image_picker</a:t>
            </a:r>
            <a:r>
              <a:rPr dirty="0"/>
              <a:t> to </a:t>
            </a:r>
            <a:r>
              <a:rPr dirty="0" err="1"/>
              <a:t>pubspec</a:t>
            </a:r>
            <a:r>
              <a:rPr dirty="0"/>
              <a:t> (Android/iOS support)</a:t>
            </a:r>
          </a:p>
          <a:p>
            <a:r>
              <a:rPr dirty="0"/>
              <a:t>Use </a:t>
            </a:r>
            <a:r>
              <a:rPr dirty="0" err="1"/>
              <a:t>Image.file</a:t>
            </a:r>
            <a:r>
              <a:rPr dirty="0"/>
              <a:t>(File(path)) to display picked image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image_picker — pubspec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400" dirty="0">
                <a:latin typeface="Consolas"/>
              </a:rPr>
              <a:t>dependencies:
  </a:t>
            </a:r>
            <a:r>
              <a:rPr sz="1400" dirty="0" err="1">
                <a:latin typeface="Consolas"/>
              </a:rPr>
              <a:t>image_picker</a:t>
            </a:r>
            <a:r>
              <a:rPr sz="1400" dirty="0">
                <a:latin typeface="Consolas"/>
              </a:rPr>
              <a:t>: ^latest
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Pick from Gallery —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5342"/>
            <a:ext cx="10515600" cy="47316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400" dirty="0">
                <a:latin typeface="Consolas"/>
              </a:rPr>
              <a:t>import '</a:t>
            </a:r>
            <a:r>
              <a:rPr sz="1400" dirty="0" err="1">
                <a:latin typeface="Consolas"/>
              </a:rPr>
              <a:t>dart:io</a:t>
            </a:r>
            <a:r>
              <a:rPr sz="1400" dirty="0">
                <a:latin typeface="Consolas"/>
              </a:rPr>
              <a:t>';
import '</a:t>
            </a:r>
            <a:r>
              <a:rPr sz="1400" dirty="0" err="1">
                <a:latin typeface="Consolas"/>
              </a:rPr>
              <a:t>package:image_picker</a:t>
            </a:r>
            <a:r>
              <a:rPr sz="1400" dirty="0">
                <a:latin typeface="Consolas"/>
              </a:rPr>
              <a:t>/</a:t>
            </a:r>
            <a:r>
              <a:rPr sz="1400" dirty="0" err="1">
                <a:latin typeface="Consolas"/>
              </a:rPr>
              <a:t>image_picker.dart</a:t>
            </a:r>
            <a:r>
              <a:rPr sz="1400" dirty="0">
                <a:latin typeface="Consolas"/>
              </a:rPr>
              <a:t>';
final _picker = </a:t>
            </a:r>
            <a:r>
              <a:rPr sz="1400" dirty="0" err="1">
                <a:latin typeface="Consolas"/>
              </a:rPr>
              <a:t>ImagePicker</a:t>
            </a:r>
            <a:r>
              <a:rPr sz="1400" dirty="0">
                <a:latin typeface="Consolas"/>
              </a:rPr>
              <a:t>();
File? _</a:t>
            </a:r>
            <a:r>
              <a:rPr sz="1400" dirty="0" err="1">
                <a:latin typeface="Consolas"/>
              </a:rPr>
              <a:t>imageFile</a:t>
            </a:r>
            <a:r>
              <a:rPr sz="1400" dirty="0">
                <a:latin typeface="Consolas"/>
              </a:rPr>
              <a:t>;
Future&lt;void&gt; _</a:t>
            </a:r>
            <a:r>
              <a:rPr sz="1400" dirty="0" err="1">
                <a:latin typeface="Consolas"/>
              </a:rPr>
              <a:t>pickFromGallery</a:t>
            </a:r>
            <a:r>
              <a:rPr sz="1400" dirty="0">
                <a:latin typeface="Consolas"/>
              </a:rPr>
              <a:t>() async {
  final </a:t>
            </a:r>
            <a:r>
              <a:rPr sz="1400" dirty="0" err="1">
                <a:latin typeface="Consolas"/>
              </a:rPr>
              <a:t>XFile</a:t>
            </a:r>
            <a:r>
              <a:rPr sz="1400" dirty="0">
                <a:latin typeface="Consolas"/>
              </a:rPr>
              <a:t>? picked = await _</a:t>
            </a:r>
            <a:r>
              <a:rPr sz="1400" dirty="0" err="1">
                <a:latin typeface="Consolas"/>
              </a:rPr>
              <a:t>picker.pickImage</a:t>
            </a:r>
            <a:r>
              <a:rPr sz="1400" dirty="0">
                <a:latin typeface="Consolas"/>
              </a:rPr>
              <a:t>(source: </a:t>
            </a:r>
            <a:r>
              <a:rPr sz="1400" b="1" dirty="0" err="1">
                <a:solidFill>
                  <a:schemeClr val="accent1">
                    <a:lumMod val="75000"/>
                  </a:schemeClr>
                </a:solidFill>
                <a:latin typeface="Consolas"/>
              </a:rPr>
              <a:t>ImageSource.gallery</a:t>
            </a:r>
            <a:r>
              <a:rPr sz="1400" dirty="0">
                <a:latin typeface="Consolas"/>
              </a:rPr>
              <a:t>);
  if (picked != null) </a:t>
            </a:r>
            <a:r>
              <a:rPr sz="1400" dirty="0" err="1">
                <a:latin typeface="Consolas"/>
              </a:rPr>
              <a:t>setState</a:t>
            </a:r>
            <a:r>
              <a:rPr sz="1400" dirty="0">
                <a:latin typeface="Consolas"/>
              </a:rPr>
              <a:t>(() =&gt; _</a:t>
            </a:r>
            <a:r>
              <a:rPr sz="1400" dirty="0" err="1">
                <a:latin typeface="Consolas"/>
              </a:rPr>
              <a:t>imageFile</a:t>
            </a:r>
            <a:r>
              <a:rPr sz="1400" dirty="0">
                <a:latin typeface="Consolas"/>
              </a:rPr>
              <a:t> = File(</a:t>
            </a:r>
            <a:r>
              <a:rPr sz="1400" dirty="0" err="1">
                <a:latin typeface="Consolas"/>
              </a:rPr>
              <a:t>picked.path</a:t>
            </a:r>
            <a:r>
              <a:rPr sz="1400" dirty="0">
                <a:latin typeface="Consolas"/>
              </a:rPr>
              <a:t>));
}
// Widget:
_</a:t>
            </a:r>
            <a:r>
              <a:rPr sz="1400" dirty="0" err="1">
                <a:latin typeface="Consolas"/>
              </a:rPr>
              <a:t>imageFile</a:t>
            </a:r>
            <a:r>
              <a:rPr sz="1400" dirty="0">
                <a:latin typeface="Consolas"/>
              </a:rPr>
              <a:t> != null
  ? </a:t>
            </a:r>
            <a:r>
              <a:rPr sz="1400" dirty="0" err="1">
                <a:latin typeface="Consolas"/>
              </a:rPr>
              <a:t>Image.file</a:t>
            </a:r>
            <a:r>
              <a:rPr sz="1400" dirty="0">
                <a:latin typeface="Consolas"/>
              </a:rPr>
              <a:t>(_</a:t>
            </a:r>
            <a:r>
              <a:rPr sz="1400" dirty="0" err="1">
                <a:latin typeface="Consolas"/>
              </a:rPr>
              <a:t>imageFile</a:t>
            </a:r>
            <a:r>
              <a:rPr sz="1400" dirty="0">
                <a:latin typeface="Consolas"/>
              </a:rPr>
              <a:t>!, width: 160, height: 160, fit: </a:t>
            </a:r>
            <a:r>
              <a:rPr sz="1400" dirty="0" err="1">
                <a:latin typeface="Consolas"/>
              </a:rPr>
              <a:t>BoxFit.contain</a:t>
            </a:r>
            <a:r>
              <a:rPr sz="1400" dirty="0">
                <a:latin typeface="Consolas"/>
              </a:rPr>
              <a:t>)
  : const Icon(</a:t>
            </a:r>
            <a:r>
              <a:rPr sz="1400" dirty="0" err="1">
                <a:latin typeface="Consolas"/>
              </a:rPr>
              <a:t>Icons.image</a:t>
            </a:r>
            <a:r>
              <a:rPr sz="1400" dirty="0">
                <a:latin typeface="Consolas"/>
              </a:rPr>
              <a:t>, size: 100, color: Colors.white70);
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 Photo with Camera —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dirty="0">
                <a:latin typeface="Consolas"/>
              </a:rPr>
              <a:t>Future&lt;void&gt; _</a:t>
            </a:r>
            <a:r>
              <a:rPr sz="1800" dirty="0" err="1">
                <a:latin typeface="Consolas"/>
              </a:rPr>
              <a:t>takePhoto</a:t>
            </a:r>
            <a:r>
              <a:rPr sz="1800" dirty="0">
                <a:latin typeface="Consolas"/>
              </a:rPr>
              <a:t>() async {
  final </a:t>
            </a:r>
            <a:r>
              <a:rPr sz="1800" dirty="0" err="1">
                <a:latin typeface="Consolas"/>
              </a:rPr>
              <a:t>XFile</a:t>
            </a:r>
            <a:r>
              <a:rPr sz="1800" dirty="0">
                <a:latin typeface="Consolas"/>
              </a:rPr>
              <a:t>? taken = await _</a:t>
            </a:r>
            <a:r>
              <a:rPr sz="1800" dirty="0" err="1">
                <a:latin typeface="Consolas"/>
              </a:rPr>
              <a:t>picker.pickImage</a:t>
            </a:r>
            <a:r>
              <a:rPr sz="1800" dirty="0">
                <a:latin typeface="Consolas"/>
              </a:rPr>
              <a:t>(</a:t>
            </a:r>
            <a:r>
              <a:rPr sz="1800" b="1" dirty="0">
                <a:solidFill>
                  <a:schemeClr val="accent1">
                    <a:lumMod val="75000"/>
                  </a:schemeClr>
                </a:solidFill>
                <a:latin typeface="Consolas"/>
              </a:rPr>
              <a:t>source: </a:t>
            </a:r>
            <a:r>
              <a:rPr sz="1800" b="1" dirty="0" err="1">
                <a:solidFill>
                  <a:schemeClr val="accent1">
                    <a:lumMod val="75000"/>
                  </a:schemeClr>
                </a:solidFill>
                <a:latin typeface="Consolas"/>
              </a:rPr>
              <a:t>ImageSource.camera</a:t>
            </a:r>
            <a:r>
              <a:rPr sz="1800" dirty="0">
                <a:latin typeface="Consolas"/>
              </a:rPr>
              <a:t>);
  if (taken != null) </a:t>
            </a:r>
            <a:r>
              <a:rPr sz="1800" dirty="0" err="1">
                <a:latin typeface="Consolas"/>
              </a:rPr>
              <a:t>setState</a:t>
            </a:r>
            <a:r>
              <a:rPr sz="1800" dirty="0">
                <a:latin typeface="Consolas"/>
              </a:rPr>
              <a:t>(() =&gt; _</a:t>
            </a:r>
            <a:r>
              <a:rPr sz="1800" dirty="0" err="1">
                <a:latin typeface="Consolas"/>
              </a:rPr>
              <a:t>imageFile</a:t>
            </a:r>
            <a:r>
              <a:rPr sz="1800" dirty="0">
                <a:latin typeface="Consolas"/>
              </a:rPr>
              <a:t> = File(</a:t>
            </a:r>
            <a:r>
              <a:rPr sz="1800" dirty="0" err="1">
                <a:latin typeface="Consolas"/>
              </a:rPr>
              <a:t>taken.path</a:t>
            </a:r>
            <a:r>
              <a:rPr sz="1800" dirty="0">
                <a:latin typeface="Consolas"/>
              </a:rPr>
              <a:t>));
}
// Button:
</a:t>
            </a:r>
            <a:r>
              <a:rPr sz="1800" dirty="0" err="1">
                <a:latin typeface="Consolas"/>
              </a:rPr>
              <a:t>ElevatedButton</a:t>
            </a:r>
            <a:r>
              <a:rPr sz="1800" dirty="0">
                <a:latin typeface="Consolas"/>
              </a:rPr>
              <a:t>(</a:t>
            </a:r>
            <a:r>
              <a:rPr sz="1800" dirty="0" err="1">
                <a:latin typeface="Consolas"/>
              </a:rPr>
              <a:t>onPressed</a:t>
            </a:r>
            <a:r>
              <a:rPr sz="1800" dirty="0">
                <a:latin typeface="Consolas"/>
              </a:rPr>
              <a:t>: _</a:t>
            </a:r>
            <a:r>
              <a:rPr sz="1800" dirty="0" err="1">
                <a:latin typeface="Consolas"/>
              </a:rPr>
              <a:t>takePhoto</a:t>
            </a:r>
            <a:r>
              <a:rPr sz="1800" dirty="0">
                <a:latin typeface="Consolas"/>
              </a:rPr>
              <a:t>, child: const Text('Open Camera'));
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Plug Into the Dice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400" dirty="0">
                <a:latin typeface="Consolas"/>
              </a:rPr>
              <a:t>// Replace the asset in your dice app:
</a:t>
            </a:r>
            <a:r>
              <a:rPr sz="1400" dirty="0" err="1">
                <a:latin typeface="Consolas"/>
              </a:rPr>
              <a:t>Image.asset</a:t>
            </a:r>
            <a:r>
              <a:rPr sz="1400" dirty="0">
                <a:latin typeface="Consolas"/>
              </a:rPr>
              <a:t>('assets/dice$_face.png')
// with a network image:
</a:t>
            </a:r>
            <a:r>
              <a:rPr sz="1400" dirty="0" err="1">
                <a:latin typeface="Consolas"/>
              </a:rPr>
              <a:t>Image.network</a:t>
            </a:r>
            <a:r>
              <a:rPr sz="1400" dirty="0">
                <a:latin typeface="Consolas"/>
              </a:rPr>
              <a:t>('https://example.com/dice$_face.png')
// Or show the gallery/camera result instead of the asset:
_</a:t>
            </a:r>
            <a:r>
              <a:rPr sz="1400" dirty="0" err="1">
                <a:latin typeface="Consolas"/>
              </a:rPr>
              <a:t>imageFile</a:t>
            </a:r>
            <a:r>
              <a:rPr sz="1400" dirty="0">
                <a:latin typeface="Consolas"/>
              </a:rPr>
              <a:t> != null
  ? </a:t>
            </a:r>
            <a:r>
              <a:rPr sz="1400" dirty="0" err="1">
                <a:latin typeface="Consolas"/>
              </a:rPr>
              <a:t>Image.file</a:t>
            </a:r>
            <a:r>
              <a:rPr sz="1400" dirty="0">
                <a:latin typeface="Consolas"/>
              </a:rPr>
              <a:t>(_</a:t>
            </a:r>
            <a:r>
              <a:rPr sz="1400" dirty="0" err="1">
                <a:latin typeface="Consolas"/>
              </a:rPr>
              <a:t>imageFile</a:t>
            </a:r>
            <a:r>
              <a:rPr sz="1400" dirty="0">
                <a:latin typeface="Consolas"/>
              </a:rPr>
              <a:t>!)
  : </a:t>
            </a:r>
            <a:r>
              <a:rPr sz="1400" dirty="0" err="1">
                <a:latin typeface="Consolas"/>
              </a:rPr>
              <a:t>Image.asset</a:t>
            </a:r>
            <a:r>
              <a:rPr sz="1400" dirty="0">
                <a:latin typeface="Consolas"/>
              </a:rPr>
              <a:t>('assets/dice$_face.png');
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Comparison of Image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434561"/>
              </p:ext>
            </p:extLst>
          </p:nvPr>
        </p:nvGraphicFramePr>
        <p:xfrm>
          <a:off x="1981200" y="13716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Widget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Cons/Notes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Image.asset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Offline, fast, version-controlled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Increases app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Image.network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Dynamic, no APK bloat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Needs internet; cache recommended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Gallery/Camera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Image.file (+ image_picker)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content, interactive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Permissions and file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08121" y="254001"/>
            <a:ext cx="29217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rPr sz="3200"/>
              <a:t>Column &amp; 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869554"/>
            <a:ext cx="11480800" cy="781447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rPr sz="2667" dirty="0"/>
              <a:t>Column() &amp; Row() can be used to place multiple child</a:t>
            </a:r>
            <a:r>
              <a:rPr lang="en-GB" sz="2667" dirty="0"/>
              <a:t>ren </a:t>
            </a:r>
            <a:r>
              <a:rPr sz="2667" dirty="0"/>
              <a:t> widgets next to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0" y="3420568"/>
            <a:ext cx="3175000" cy="25400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600" b="1" dirty="0"/>
              <a:t>Column()</a:t>
            </a:r>
          </a:p>
          <a:p>
            <a:pPr algn="ctr">
              <a:defRPr sz="1200">
                <a:solidFill>
                  <a:srgbClr val="000000"/>
                </a:solidFill>
              </a:defRPr>
            </a:pPr>
            <a:endParaRPr sz="1600" dirty="0"/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600" dirty="0"/>
              <a:t>Main Axis: Vertical Axis</a:t>
            </a:r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600" dirty="0"/>
              <a:t>Cross Axis: Horizontal Axis</a:t>
            </a:r>
          </a:p>
          <a:p>
            <a:pPr algn="ctr">
              <a:defRPr sz="1200">
                <a:solidFill>
                  <a:srgbClr val="000000"/>
                </a:solidFill>
              </a:defRPr>
            </a:pPr>
            <a:endParaRPr sz="1600" dirty="0"/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600" dirty="0"/>
              <a:t>By default, occupies the entire available height but only the width required by its content (children)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247" y="3420568"/>
            <a:ext cx="3175000" cy="25400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600" b="1" dirty="0"/>
              <a:t>Row()</a:t>
            </a:r>
          </a:p>
          <a:p>
            <a:pPr algn="ctr">
              <a:defRPr sz="1200">
                <a:solidFill>
                  <a:srgbClr val="000000"/>
                </a:solidFill>
              </a:defRPr>
            </a:pPr>
            <a:endParaRPr sz="1600" dirty="0"/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600" dirty="0"/>
              <a:t>Main Axis: Horizontal Axis</a:t>
            </a:r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600" dirty="0"/>
              <a:t>Cross Axis: Vertical Axis</a:t>
            </a:r>
          </a:p>
          <a:p>
            <a:pPr algn="ctr">
              <a:defRPr sz="1200">
                <a:solidFill>
                  <a:srgbClr val="000000"/>
                </a:solidFill>
              </a:defRPr>
            </a:pPr>
            <a:endParaRPr sz="1600" dirty="0"/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rPr sz="1600" dirty="0"/>
              <a:t>By default, occupies the entire available width but only the height required by its content (children)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C9DE8A-EE3C-1E81-A9D0-82EFD8CBE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872" y="2311400"/>
            <a:ext cx="660457" cy="7315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EA59A0-D02C-FC35-C7E1-083CA6408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022" y="2352045"/>
            <a:ext cx="609653" cy="6909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089799"/>
            <a:ext cx="12192000" cy="2678852"/>
          </a:xfrm>
          <a:custGeom>
            <a:avLst/>
            <a:gdLst/>
            <a:ahLst/>
            <a:cxnLst/>
            <a:rect l="l" t="t" r="r" b="b"/>
            <a:pathLst>
              <a:path w="9144000" h="2009139">
                <a:moveTo>
                  <a:pt x="9143999" y="2008799"/>
                </a:moveTo>
                <a:lnTo>
                  <a:pt x="0" y="200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008799"/>
                </a:lnTo>
                <a:close/>
              </a:path>
            </a:pathLst>
          </a:custGeom>
          <a:solidFill>
            <a:srgbClr val="E91C6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7600" y="1023438"/>
            <a:ext cx="140208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460" dirty="0"/>
              <a:t>Alignment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3833" y="177975"/>
            <a:ext cx="11531600" cy="6680200"/>
            <a:chOff x="265375" y="133481"/>
            <a:chExt cx="8648700" cy="5010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6612" y="133481"/>
              <a:ext cx="5156976" cy="50100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375" y="2383174"/>
              <a:ext cx="5210174" cy="27603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5801" y="0"/>
            <a:ext cx="11717020" cy="6744547"/>
            <a:chOff x="356850" y="0"/>
            <a:chExt cx="8787765" cy="5058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5573" y="0"/>
              <a:ext cx="6228426" cy="5057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850" y="2380600"/>
              <a:ext cx="4992649" cy="25790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0834" y="317300"/>
            <a:ext cx="11698393" cy="6451600"/>
            <a:chOff x="300625" y="237975"/>
            <a:chExt cx="8773795" cy="4838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0225" y="237975"/>
              <a:ext cx="6563872" cy="48386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625" y="2518650"/>
              <a:ext cx="5010849" cy="21367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7801" y="0"/>
            <a:ext cx="11874500" cy="6575213"/>
            <a:chOff x="238350" y="0"/>
            <a:chExt cx="8905875" cy="4931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6150" y="0"/>
              <a:ext cx="5657849" cy="49311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350" y="2432949"/>
              <a:ext cx="4531199" cy="22795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3500" y="0"/>
            <a:ext cx="11988800" cy="6858000"/>
            <a:chOff x="152625" y="0"/>
            <a:chExt cx="89916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6575" y="0"/>
              <a:ext cx="6247424" cy="5143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25" y="2751450"/>
              <a:ext cx="5367999" cy="20941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4725</TotalTime>
  <Words>1202</Words>
  <Application>Microsoft Office PowerPoint</Application>
  <PresentationFormat>Widescreen</PresentationFormat>
  <Paragraphs>115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Exercise 1</vt:lpstr>
      <vt:lpstr>Scaffold</vt:lpstr>
      <vt:lpstr>Refactor</vt:lpstr>
      <vt:lpstr>Wrap with centre</vt:lpstr>
      <vt:lpstr>PowerPoint Presentation</vt:lpstr>
      <vt:lpstr>Formatting</vt:lpstr>
      <vt:lpstr>View- Command Pallete -  Format Document</vt:lpstr>
      <vt:lpstr>PowerPoint Presentation</vt:lpstr>
      <vt:lpstr>Linear Gradient Class</vt:lpstr>
      <vt:lpstr>Linear Gradient parameter is a list of colors</vt:lpstr>
      <vt:lpstr>Gradient Direction ( begin &amp; end)</vt:lpstr>
      <vt:lpstr>PowerPoint Presentation</vt:lpstr>
      <vt:lpstr>Exercise 2</vt:lpstr>
      <vt:lpstr>PowerPoint Presentation</vt:lpstr>
      <vt:lpstr>Replace the Hello World witn the dice image and Button</vt:lpstr>
      <vt:lpstr>PowerPoint Presentation</vt:lpstr>
      <vt:lpstr>Task 1 — Convert to StatefulWidget and show a dice image </vt:lpstr>
      <vt:lpstr>Task 2 — Add a “Roll” button that randomizes the dice (setState) </vt:lpstr>
      <vt:lpstr>Task 3 — Add a bounce animation when the dice changes </vt:lpstr>
      <vt:lpstr>Task 4 — Show the rolled number under the button </vt:lpstr>
      <vt:lpstr>PowerPoint Presentation</vt:lpstr>
      <vt:lpstr>PowerPoint Presentation</vt:lpstr>
      <vt:lpstr>Images from URL (Network)</vt:lpstr>
      <vt:lpstr>Network Image — Snippets</vt:lpstr>
      <vt:lpstr>Optional: Cached Network Images — pubspec</vt:lpstr>
      <vt:lpstr>Optional: Cached Network Images — Code</vt:lpstr>
      <vt:lpstr>Images from Gallery / Camera</vt:lpstr>
      <vt:lpstr>image_picker — pubspec</vt:lpstr>
      <vt:lpstr>Pick from Gallery — Code</vt:lpstr>
      <vt:lpstr>Take Photo with Camera — Code</vt:lpstr>
      <vt:lpstr>Where to Plug Into the Dice App</vt:lpstr>
      <vt:lpstr>Quick Comparison of Image Sources</vt:lpstr>
      <vt:lpstr>PowerPoint Presentation</vt:lpstr>
      <vt:lpstr>Alignment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Taraggy Ghanim</dc:creator>
  <cp:lastModifiedBy>Taraggy Ghanim</cp:lastModifiedBy>
  <cp:revision>4</cp:revision>
  <dcterms:created xsi:type="dcterms:W3CDTF">2025-09-28T20:36:32Z</dcterms:created>
  <dcterms:modified xsi:type="dcterms:W3CDTF">2025-10-05T16:12:37Z</dcterms:modified>
</cp:coreProperties>
</file>